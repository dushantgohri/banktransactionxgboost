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8E7B9-C9A3-48C8-8C8F-8011FDBE4EA2}" v="2" dt="2020-12-09T10:49:13.74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ylianos Killa" userId="b70a7e7d781c0abc" providerId="LiveId" clId="{1818E7B9-C9A3-48C8-8C8F-8011FDBE4EA2}"/>
    <pc:docChg chg="undo custSel modSld">
      <pc:chgData name="Stylianos Killa" userId="b70a7e7d781c0abc" providerId="LiveId" clId="{1818E7B9-C9A3-48C8-8C8F-8011FDBE4EA2}" dt="2020-12-09T10:52:15.737" v="36" actId="1076"/>
      <pc:docMkLst>
        <pc:docMk/>
      </pc:docMkLst>
      <pc:sldChg chg="modSp mod">
        <pc:chgData name="Stylianos Killa" userId="b70a7e7d781c0abc" providerId="LiveId" clId="{1818E7B9-C9A3-48C8-8C8F-8011FDBE4EA2}" dt="2020-12-09T10:48:39.608" v="7" actId="14100"/>
        <pc:sldMkLst>
          <pc:docMk/>
          <pc:sldMk cId="0" sldId="260"/>
        </pc:sldMkLst>
        <pc:spChg chg="mod">
          <ac:chgData name="Stylianos Killa" userId="b70a7e7d781c0abc" providerId="LiveId" clId="{1818E7B9-C9A3-48C8-8C8F-8011FDBE4EA2}" dt="2020-12-09T10:48:07.447" v="1" actId="1076"/>
          <ac:spMkLst>
            <pc:docMk/>
            <pc:sldMk cId="0" sldId="260"/>
            <ac:spMk id="166" creationId="{00000000-0000-0000-0000-000000000000}"/>
          </ac:spMkLst>
        </pc:spChg>
        <pc:spChg chg="mod">
          <ac:chgData name="Stylianos Killa" userId="b70a7e7d781c0abc" providerId="LiveId" clId="{1818E7B9-C9A3-48C8-8C8F-8011FDBE4EA2}" dt="2020-12-09T10:48:17.864" v="2" actId="1076"/>
          <ac:spMkLst>
            <pc:docMk/>
            <pc:sldMk cId="0" sldId="260"/>
            <ac:spMk id="167" creationId="{00000000-0000-0000-0000-000000000000}"/>
          </ac:spMkLst>
        </pc:spChg>
        <pc:spChg chg="mod">
          <ac:chgData name="Stylianos Killa" userId="b70a7e7d781c0abc" providerId="LiveId" clId="{1818E7B9-C9A3-48C8-8C8F-8011FDBE4EA2}" dt="2020-12-09T10:48:32.678" v="5" actId="14100"/>
          <ac:spMkLst>
            <pc:docMk/>
            <pc:sldMk cId="0" sldId="260"/>
            <ac:spMk id="170" creationId="{00000000-0000-0000-0000-000000000000}"/>
          </ac:spMkLst>
        </pc:spChg>
        <pc:spChg chg="mod">
          <ac:chgData name="Stylianos Killa" userId="b70a7e7d781c0abc" providerId="LiveId" clId="{1818E7B9-C9A3-48C8-8C8F-8011FDBE4EA2}" dt="2020-12-09T10:48:39.608" v="7" actId="14100"/>
          <ac:spMkLst>
            <pc:docMk/>
            <pc:sldMk cId="0" sldId="260"/>
            <ac:spMk id="171" creationId="{00000000-0000-0000-0000-000000000000}"/>
          </ac:spMkLst>
        </pc:spChg>
        <pc:graphicFrameChg chg="mod">
          <ac:chgData name="Stylianos Killa" userId="b70a7e7d781c0abc" providerId="LiveId" clId="{1818E7B9-C9A3-48C8-8C8F-8011FDBE4EA2}" dt="2020-12-09T10:48:25.345" v="3" actId="1076"/>
          <ac:graphicFrameMkLst>
            <pc:docMk/>
            <pc:sldMk cId="0" sldId="260"/>
            <ac:graphicFrameMk id="160" creationId="{00000000-0000-0000-0000-000000000000}"/>
          </ac:graphicFrameMkLst>
        </pc:graphicFrameChg>
      </pc:sldChg>
      <pc:sldChg chg="addSp modSp mod">
        <pc:chgData name="Stylianos Killa" userId="b70a7e7d781c0abc" providerId="LiveId" clId="{1818E7B9-C9A3-48C8-8C8F-8011FDBE4EA2}" dt="2020-12-09T10:50:27.397" v="27" actId="1076"/>
        <pc:sldMkLst>
          <pc:docMk/>
          <pc:sldMk cId="0" sldId="261"/>
        </pc:sldMkLst>
        <pc:picChg chg="add mod">
          <ac:chgData name="Stylianos Killa" userId="b70a7e7d781c0abc" providerId="LiveId" clId="{1818E7B9-C9A3-48C8-8C8F-8011FDBE4EA2}" dt="2020-12-09T10:49:06.569" v="12" actId="1076"/>
          <ac:picMkLst>
            <pc:docMk/>
            <pc:sldMk cId="0" sldId="261"/>
            <ac:picMk id="3" creationId="{4FC85B38-C055-466A-8802-175EE6610531}"/>
          </ac:picMkLst>
        </pc:picChg>
        <pc:picChg chg="add mod">
          <ac:chgData name="Stylianos Killa" userId="b70a7e7d781c0abc" providerId="LiveId" clId="{1818E7B9-C9A3-48C8-8C8F-8011FDBE4EA2}" dt="2020-12-09T10:50:27.397" v="27" actId="1076"/>
          <ac:picMkLst>
            <pc:docMk/>
            <pc:sldMk cId="0" sldId="261"/>
            <ac:picMk id="5" creationId="{2BCAE179-674F-4921-A807-D4B0E89DA57B}"/>
          </ac:picMkLst>
        </pc:picChg>
      </pc:sldChg>
      <pc:sldChg chg="modSp mod">
        <pc:chgData name="Stylianos Killa" userId="b70a7e7d781c0abc" providerId="LiveId" clId="{1818E7B9-C9A3-48C8-8C8F-8011FDBE4EA2}" dt="2020-12-09T10:51:21.662" v="35" actId="14100"/>
        <pc:sldMkLst>
          <pc:docMk/>
          <pc:sldMk cId="0" sldId="263"/>
        </pc:sldMkLst>
        <pc:spChg chg="mod">
          <ac:chgData name="Stylianos Killa" userId="b70a7e7d781c0abc" providerId="LiveId" clId="{1818E7B9-C9A3-48C8-8C8F-8011FDBE4EA2}" dt="2020-12-09T10:50:52.804" v="31" actId="14100"/>
          <ac:spMkLst>
            <pc:docMk/>
            <pc:sldMk cId="0" sldId="263"/>
            <ac:spMk id="223" creationId="{00000000-0000-0000-0000-000000000000}"/>
          </ac:spMkLst>
        </pc:spChg>
        <pc:spChg chg="mod">
          <ac:chgData name="Stylianos Killa" userId="b70a7e7d781c0abc" providerId="LiveId" clId="{1818E7B9-C9A3-48C8-8C8F-8011FDBE4EA2}" dt="2020-12-09T10:51:15.328" v="34" actId="1076"/>
          <ac:spMkLst>
            <pc:docMk/>
            <pc:sldMk cId="0" sldId="263"/>
            <ac:spMk id="224" creationId="{00000000-0000-0000-0000-000000000000}"/>
          </ac:spMkLst>
        </pc:spChg>
        <pc:spChg chg="mod">
          <ac:chgData name="Stylianos Killa" userId="b70a7e7d781c0abc" providerId="LiveId" clId="{1818E7B9-C9A3-48C8-8C8F-8011FDBE4EA2}" dt="2020-12-09T10:51:21.662" v="35" actId="14100"/>
          <ac:spMkLst>
            <pc:docMk/>
            <pc:sldMk cId="0" sldId="263"/>
            <ac:spMk id="227" creationId="{00000000-0000-0000-0000-000000000000}"/>
          </ac:spMkLst>
        </pc:spChg>
        <pc:cxnChg chg="mod">
          <ac:chgData name="Stylianos Killa" userId="b70a7e7d781c0abc" providerId="LiveId" clId="{1818E7B9-C9A3-48C8-8C8F-8011FDBE4EA2}" dt="2020-12-09T10:51:21.662" v="35" actId="14100"/>
          <ac:cxnSpMkLst>
            <pc:docMk/>
            <pc:sldMk cId="0" sldId="263"/>
            <ac:cxnSpMk id="221" creationId="{00000000-0000-0000-0000-000000000000}"/>
          </ac:cxnSpMkLst>
        </pc:cxnChg>
      </pc:sldChg>
      <pc:sldChg chg="modSp mod">
        <pc:chgData name="Stylianos Killa" userId="b70a7e7d781c0abc" providerId="LiveId" clId="{1818E7B9-C9A3-48C8-8C8F-8011FDBE4EA2}" dt="2020-12-09T10:52:15.737" v="36" actId="1076"/>
        <pc:sldMkLst>
          <pc:docMk/>
          <pc:sldMk cId="0" sldId="264"/>
        </pc:sldMkLst>
        <pc:spChg chg="mod">
          <ac:chgData name="Stylianos Killa" userId="b70a7e7d781c0abc" providerId="LiveId" clId="{1818E7B9-C9A3-48C8-8C8F-8011FDBE4EA2}" dt="2020-12-09T10:52:15.737" v="36" actId="1076"/>
          <ac:spMkLst>
            <pc:docMk/>
            <pc:sldMk cId="0" sldId="264"/>
            <ac:spMk id="24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1.6651300000000001E-2"/>
          <c:y val="0.12851399999999999"/>
          <c:w val="0.85627399999999998"/>
          <c:h val="0.8268569999999999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Sheet1!$B$1:$B$1</c:f>
              <c:strCache>
                <c:ptCount val="1"/>
                <c:pt idx="0">
                  <c:v>RAW DATA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A5-4115-B081-4BC5BAD6A3F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chemeClr val="accent5">
                <a:lumOff val="20196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Sheet1!$B$1:$B$1</c:f>
              <c:strCache>
                <c:ptCount val="1"/>
                <c:pt idx="0">
                  <c:v>RAW DATA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A5-4115-B081-4BC5BAD6A3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88010999999999995"/>
          <c:y val="0.31151600000000002"/>
          <c:w val="0.11989"/>
          <c:h val="0.3034470000000000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100" b="0" i="0" u="none" strike="noStrike">
              <a:solidFill>
                <a:srgbClr val="595959"/>
              </a:solidFill>
              <a:latin typeface="Helvetica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0303100000000001E-2"/>
          <c:y val="0.10363700000000001"/>
          <c:w val="0.97469700000000004"/>
          <c:h val="0.8550560000000000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Sheet1!$B$1:$B$1</c:f>
              <c:strCache>
                <c:ptCount val="1"/>
                <c:pt idx="0">
                  <c:v>Target Customers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59-47EA-8BED-8040CE262C8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chemeClr val="accent5">
                <a:lumOff val="20196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Sheet1!$B$1:$B$1</c:f>
              <c:strCache>
                <c:ptCount val="1"/>
                <c:pt idx="0">
                  <c:v>Target Customers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59-47EA-8BED-8040CE262C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5397199999999997E-2"/>
          <c:y val="0.198404"/>
          <c:w val="0.95960299999999998"/>
          <c:h val="0.7339480000000000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Sheet1!$B$1:$B$1</c:f>
              <c:strCache>
                <c:ptCount val="1"/>
                <c:pt idx="0">
                  <c:v>Radical Customers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39-4B56-9900-18623A13067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chemeClr val="accent5">
                <a:lumOff val="20196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Sheet1!$B$1:$B$1</c:f>
              <c:strCache>
                <c:ptCount val="1"/>
                <c:pt idx="0">
                  <c:v>Radical Customers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39-4B56-9900-18623A130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view3D>
      <c:rotX val="15"/>
      <c:hPercent val="114"/>
      <c:rotY val="0"/>
      <c:depthPercent val="5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5"/>
            </a:solidFill>
            <a:ln w="12700" cap="flat">
              <a:noFill/>
              <a:miter lim="400000"/>
            </a:ln>
            <a:effectLst/>
            <a:sp3d prstMaterial="matte"/>
          </c:spPr>
          <c:invertIfNegative val="0"/>
          <c:cat>
            <c:strRef>
              <c:f>Sheet1!$A$2:$A$3</c:f>
              <c:strCache>
                <c:ptCount val="2"/>
                <c:pt idx="0">
                  <c:v>With Model</c:v>
                </c:pt>
                <c:pt idx="1">
                  <c:v>Without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33-4189-A1C9-DAA3B06CE4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94734552"/>
        <c:axId val="2094734553"/>
        <c:axId val="2094734554"/>
      </c:bar3DChart>
      <c:catAx>
        <c:axId val="209473455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1"/>
        <c:axPos val="t"/>
        <c:numFmt formatCode="0" sourceLinked="0"/>
        <c:majorTickMark val="none"/>
        <c:minorTickMark val="none"/>
        <c:tickLblPos val="nextTo"/>
        <c:crossAx val="2094734552"/>
        <c:crosses val="autoZero"/>
        <c:crossBetween val="between"/>
        <c:majorUnit val="10"/>
        <c:minorUnit val="5"/>
      </c:valAx>
      <c:serAx>
        <c:axId val="2094734554"/>
        <c:scaling>
          <c:orientation val="minMax"/>
        </c:scaling>
        <c:delete val="1"/>
        <c:axPos val="b"/>
        <c:majorTickMark val="out"/>
        <c:minorTickMark val="none"/>
        <c:tickLblPos val="none"/>
        <c:crossAx val="2094734553"/>
        <c:crosses val="autoZero"/>
        <c:tickLblSkip val="1"/>
      </c:ser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" name="Shape 1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 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9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7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>
            <a:spLocks noGrp="1"/>
          </p:cNvSpPr>
          <p:nvPr>
            <p:ph type="title"/>
          </p:nvPr>
        </p:nvSpPr>
        <p:spPr>
          <a:xfrm>
            <a:off x="7476637" y="2343669"/>
            <a:ext cx="4087307" cy="2170662"/>
          </a:xfrm>
          <a:prstGeom prst="rect">
            <a:avLst/>
          </a:prstGeom>
        </p:spPr>
        <p:txBody>
          <a:bodyPr anchor="t"/>
          <a:lstStyle/>
          <a:p>
            <a:pPr algn="l" defTabSz="886968">
              <a:defRPr sz="4850">
                <a:latin typeface="+mj-lt"/>
                <a:ea typeface="+mj-ea"/>
                <a:cs typeface="+mj-cs"/>
                <a:sym typeface="Helvetica"/>
              </a:defRPr>
            </a:pPr>
            <a:r>
              <a:t>Customer</a:t>
            </a:r>
            <a:br/>
            <a:r>
              <a:t>Transaction Prediction</a:t>
            </a:r>
          </a:p>
        </p:txBody>
      </p:sp>
      <p:sp>
        <p:nvSpPr>
          <p:cNvPr id="104" name="Subtitle 2"/>
          <p:cNvSpPr txBox="1">
            <a:spLocks noGrp="1"/>
          </p:cNvSpPr>
          <p:nvPr>
            <p:ph type="body" sz="quarter" idx="1"/>
          </p:nvPr>
        </p:nvSpPr>
        <p:spPr>
          <a:xfrm>
            <a:off x="7536756" y="4690774"/>
            <a:ext cx="3696333" cy="320041"/>
          </a:xfrm>
          <a:prstGeom prst="rect">
            <a:avLst/>
          </a:prstGeom>
        </p:spPr>
        <p:txBody>
          <a:bodyPr/>
          <a:lstStyle/>
          <a:p>
            <a:pPr algn="l" defTabSz="694944">
              <a:spcBef>
                <a:spcPts val="700"/>
              </a:spcBef>
              <a:defRPr sz="152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Designed for </a:t>
            </a:r>
            <a:r>
              <a:rPr b="1" dirty="0"/>
              <a:t>UNIVERSAL PLUS</a:t>
            </a:r>
            <a:r>
              <a:rPr dirty="0"/>
              <a:t> Bank</a:t>
            </a:r>
          </a:p>
        </p:txBody>
      </p:sp>
      <p:pic>
        <p:nvPicPr>
          <p:cNvPr id="105" name="Picture 3" descr="One glowing light bulb among rows of unlit bulb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9" r="11569"/>
          <a:stretch/>
        </p:blipFill>
        <p:spPr>
          <a:xfrm>
            <a:off x="1" y="9"/>
            <a:ext cx="7028260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4002" y="21600"/>
                </a:lnTo>
                <a:lnTo>
                  <a:pt x="14970" y="20650"/>
                </a:lnTo>
                <a:cubicBezTo>
                  <a:pt x="19060" y="16396"/>
                  <a:pt x="21587" y="10560"/>
                  <a:pt x="21600" y="4119"/>
                </a:cubicBezTo>
                <a:lnTo>
                  <a:pt x="21600" y="4004"/>
                </a:lnTo>
                <a:cubicBezTo>
                  <a:pt x="21597" y="2880"/>
                  <a:pt x="21518" y="1773"/>
                  <a:pt x="21367" y="691"/>
                </a:cubicBezTo>
                <a:lnTo>
                  <a:pt x="21254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06" name="TextBox 4"/>
          <p:cNvSpPr txBox="1"/>
          <p:nvPr/>
        </p:nvSpPr>
        <p:spPr>
          <a:xfrm>
            <a:off x="10391688" y="220770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107" name="Graphic 6" descr="Graphic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207" y="144910"/>
            <a:ext cx="471763" cy="4717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ooter Placeholder 5"/>
          <p:cNvSpPr txBox="1"/>
          <p:nvPr/>
        </p:nvSpPr>
        <p:spPr>
          <a:xfrm>
            <a:off x="9499928" y="6489437"/>
            <a:ext cx="314894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  <p:sp>
        <p:nvSpPr>
          <p:cNvPr id="110" name="Title 1"/>
          <p:cNvSpPr txBox="1">
            <a:spLocks noGrp="1"/>
          </p:cNvSpPr>
          <p:nvPr>
            <p:ph type="title"/>
          </p:nvPr>
        </p:nvSpPr>
        <p:spPr>
          <a:xfrm>
            <a:off x="838200" y="557188"/>
            <a:ext cx="3374136" cy="5567893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INDEX</a:t>
            </a:r>
          </a:p>
        </p:txBody>
      </p:sp>
      <p:grpSp>
        <p:nvGrpSpPr>
          <p:cNvPr id="126" name="Content Placeholder 2"/>
          <p:cNvGrpSpPr/>
          <p:nvPr/>
        </p:nvGrpSpPr>
        <p:grpSpPr>
          <a:xfrm>
            <a:off x="5093208" y="622171"/>
            <a:ext cx="6263642" cy="5501129"/>
            <a:chOff x="0" y="0"/>
            <a:chExt cx="6263641" cy="5501127"/>
          </a:xfrm>
        </p:grpSpPr>
        <p:sp>
          <p:nvSpPr>
            <p:cNvPr id="111" name="Rounded Rectangle"/>
            <p:cNvSpPr/>
            <p:nvPr/>
          </p:nvSpPr>
          <p:spPr>
            <a:xfrm>
              <a:off x="0" y="0"/>
              <a:ext cx="6263641" cy="758777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lnSpc>
                  <a:spcPct val="90000"/>
                </a:lnSpc>
                <a:spcBef>
                  <a:spcPts val="1000"/>
                </a:spcBef>
                <a:defRPr sz="2800"/>
              </a:pPr>
              <a:endParaRPr/>
            </a:p>
          </p:txBody>
        </p:sp>
        <p:sp>
          <p:nvSpPr>
            <p:cNvPr id="112" name="METHODOLOGY"/>
            <p:cNvSpPr txBox="1"/>
            <p:nvPr/>
          </p:nvSpPr>
          <p:spPr>
            <a:xfrm>
              <a:off x="876386" y="146684"/>
              <a:ext cx="5387253" cy="4654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80304" tIns="80304" rIns="80304" bIns="80304" numCol="1" anchor="ctr">
              <a:spAutoFit/>
            </a:bodyPr>
            <a:lstStyle>
              <a:lvl1pPr defTabSz="844550">
                <a:spcBef>
                  <a:spcPts val="700"/>
                </a:spcBef>
                <a:defRPr sz="2000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rPr dirty="0"/>
                <a:t>METHODOLOGY</a:t>
              </a:r>
            </a:p>
          </p:txBody>
        </p:sp>
        <p:sp>
          <p:nvSpPr>
            <p:cNvPr id="113" name="Rounded Rectangle"/>
            <p:cNvSpPr/>
            <p:nvPr/>
          </p:nvSpPr>
          <p:spPr>
            <a:xfrm>
              <a:off x="0" y="948470"/>
              <a:ext cx="6263641" cy="758777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lnSpc>
                  <a:spcPct val="90000"/>
                </a:lnSpc>
                <a:spcBef>
                  <a:spcPts val="1000"/>
                </a:spcBef>
                <a:defRPr sz="2800"/>
              </a:pPr>
              <a:endParaRPr/>
            </a:p>
          </p:txBody>
        </p:sp>
        <p:sp>
          <p:nvSpPr>
            <p:cNvPr id="114" name="PROJECT UNDERSTANDING"/>
            <p:cNvSpPr txBox="1"/>
            <p:nvPr/>
          </p:nvSpPr>
          <p:spPr>
            <a:xfrm>
              <a:off x="876386" y="1095154"/>
              <a:ext cx="5387253" cy="4654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80304" tIns="80304" rIns="80304" bIns="80304" numCol="1" anchor="ctr">
              <a:spAutoFit/>
            </a:bodyPr>
            <a:lstStyle>
              <a:lvl1pPr defTabSz="844550">
                <a:spcBef>
                  <a:spcPts val="700"/>
                </a:spcBef>
                <a:defRPr sz="2000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t>PROJECT UNDERSTANDING</a:t>
              </a:r>
            </a:p>
          </p:txBody>
        </p:sp>
        <p:sp>
          <p:nvSpPr>
            <p:cNvPr id="115" name="Rounded Rectangle"/>
            <p:cNvSpPr/>
            <p:nvPr/>
          </p:nvSpPr>
          <p:spPr>
            <a:xfrm>
              <a:off x="0" y="1896939"/>
              <a:ext cx="6263641" cy="758777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lnSpc>
                  <a:spcPct val="90000"/>
                </a:lnSpc>
                <a:spcBef>
                  <a:spcPts val="1000"/>
                </a:spcBef>
                <a:defRPr sz="2800"/>
              </a:pPr>
              <a:endParaRPr/>
            </a:p>
          </p:txBody>
        </p:sp>
        <p:sp>
          <p:nvSpPr>
            <p:cNvPr id="116" name="DATA INSIGHTS"/>
            <p:cNvSpPr txBox="1"/>
            <p:nvPr/>
          </p:nvSpPr>
          <p:spPr>
            <a:xfrm>
              <a:off x="876386" y="2043623"/>
              <a:ext cx="5387253" cy="4654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80304" tIns="80304" rIns="80304" bIns="80304" numCol="1" anchor="ctr">
              <a:spAutoFit/>
            </a:bodyPr>
            <a:lstStyle>
              <a:lvl1pPr defTabSz="844550">
                <a:spcBef>
                  <a:spcPts val="700"/>
                </a:spcBef>
                <a:defRPr sz="2000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t>DATA INSIGHTS</a:t>
              </a:r>
            </a:p>
          </p:txBody>
        </p:sp>
        <p:sp>
          <p:nvSpPr>
            <p:cNvPr id="117" name="Rounded Rectangle"/>
            <p:cNvSpPr/>
            <p:nvPr/>
          </p:nvSpPr>
          <p:spPr>
            <a:xfrm>
              <a:off x="0" y="2845410"/>
              <a:ext cx="6263641" cy="758777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lnSpc>
                  <a:spcPct val="90000"/>
                </a:lnSpc>
                <a:spcBef>
                  <a:spcPts val="1000"/>
                </a:spcBef>
                <a:defRPr sz="2800"/>
              </a:pPr>
              <a:endParaRPr/>
            </a:p>
          </p:txBody>
        </p:sp>
        <p:sp>
          <p:nvSpPr>
            <p:cNvPr id="118" name="LET’S TALK BUSINESS"/>
            <p:cNvSpPr txBox="1"/>
            <p:nvPr/>
          </p:nvSpPr>
          <p:spPr>
            <a:xfrm>
              <a:off x="876386" y="2992094"/>
              <a:ext cx="5387253" cy="4654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80304" tIns="80304" rIns="80304" bIns="80304" numCol="1" anchor="ctr">
              <a:spAutoFit/>
            </a:bodyPr>
            <a:lstStyle>
              <a:lvl1pPr defTabSz="844550">
                <a:spcBef>
                  <a:spcPts val="700"/>
                </a:spcBef>
                <a:defRPr sz="2000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t>LET’S TALK BUSINESS</a:t>
              </a:r>
            </a:p>
          </p:txBody>
        </p:sp>
        <p:sp>
          <p:nvSpPr>
            <p:cNvPr id="119" name="Rounded Rectangle"/>
            <p:cNvSpPr/>
            <p:nvPr/>
          </p:nvSpPr>
          <p:spPr>
            <a:xfrm>
              <a:off x="0" y="3793880"/>
              <a:ext cx="6263641" cy="758777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lnSpc>
                  <a:spcPct val="90000"/>
                </a:lnSpc>
                <a:spcBef>
                  <a:spcPts val="1000"/>
                </a:spcBef>
                <a:defRPr sz="2800"/>
              </a:pPr>
              <a:endParaRPr/>
            </a:p>
          </p:txBody>
        </p:sp>
        <p:sp>
          <p:nvSpPr>
            <p:cNvPr id="120" name="OUR SOLUTION"/>
            <p:cNvSpPr txBox="1"/>
            <p:nvPr/>
          </p:nvSpPr>
          <p:spPr>
            <a:xfrm>
              <a:off x="876386" y="3940564"/>
              <a:ext cx="5387253" cy="4654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80304" tIns="80304" rIns="80304" bIns="80304" numCol="1" anchor="ctr">
              <a:spAutoFit/>
            </a:bodyPr>
            <a:lstStyle>
              <a:lvl1pPr defTabSz="844550">
                <a:spcBef>
                  <a:spcPts val="700"/>
                </a:spcBef>
                <a:defRPr sz="2000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t>OUR SOLUTION</a:t>
              </a:r>
            </a:p>
          </p:txBody>
        </p:sp>
        <p:sp>
          <p:nvSpPr>
            <p:cNvPr id="121" name="Rounded Rectangle"/>
            <p:cNvSpPr/>
            <p:nvPr/>
          </p:nvSpPr>
          <p:spPr>
            <a:xfrm>
              <a:off x="0" y="4742350"/>
              <a:ext cx="6263641" cy="758777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lnSpc>
                  <a:spcPct val="90000"/>
                </a:lnSpc>
                <a:spcBef>
                  <a:spcPts val="1000"/>
                </a:spcBef>
                <a:defRPr sz="2800"/>
              </a:pPr>
              <a:endParaRPr/>
            </a:p>
          </p:txBody>
        </p:sp>
        <p:sp>
          <p:nvSpPr>
            <p:cNvPr id="122" name="ABOUT US"/>
            <p:cNvSpPr txBox="1"/>
            <p:nvPr/>
          </p:nvSpPr>
          <p:spPr>
            <a:xfrm>
              <a:off x="876386" y="4889034"/>
              <a:ext cx="5387253" cy="4654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80304" tIns="80304" rIns="80304" bIns="80304" numCol="1" anchor="ctr">
              <a:spAutoFit/>
            </a:bodyPr>
            <a:lstStyle>
              <a:lvl1pPr defTabSz="844550">
                <a:spcBef>
                  <a:spcPts val="700"/>
                </a:spcBef>
                <a:defRPr sz="2000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rPr lang="en-US" dirty="0"/>
                <a:t>OUR TEAM</a:t>
              </a:r>
              <a:endParaRPr dirty="0"/>
            </a:p>
          </p:txBody>
        </p:sp>
        <p:pic>
          <p:nvPicPr>
            <p:cNvPr id="123" name="cognitive.png" descr="cognitive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250762" y="1048458"/>
              <a:ext cx="558801" cy="558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4" name="bar-chart.png" descr="bar-char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762" y="2067132"/>
              <a:ext cx="523965" cy="5239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5" name="light-bulb.png" descr="light-bul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3344" y="3893868"/>
              <a:ext cx="558801" cy="558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7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128" name="Graphic 20" descr="Graphic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technical-support.png" descr="technical-sup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738" y="726410"/>
            <a:ext cx="558801" cy="55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account.png" descr="accou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738" y="5490029"/>
            <a:ext cx="558801" cy="55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speech-bubble.png" descr="speech-bub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3738" y="3584729"/>
            <a:ext cx="558801" cy="558801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B57A34-F069-45FE-833E-2FA394EE9128}"/>
              </a:ext>
            </a:extLst>
          </p:cNvPr>
          <p:cNvCxnSpPr>
            <a:cxnSpLocks/>
            <a:endCxn id="111" idx="1"/>
          </p:cNvCxnSpPr>
          <p:nvPr/>
        </p:nvCxnSpPr>
        <p:spPr>
          <a:xfrm>
            <a:off x="4409038" y="1001559"/>
            <a:ext cx="684170" cy="1"/>
          </a:xfrm>
          <a:prstGeom prst="straightConnector1">
            <a:avLst/>
          </a:prstGeom>
          <a:noFill/>
          <a:ln w="381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34C301-6D7D-40D1-B7A5-C1B070300F65}"/>
              </a:ext>
            </a:extLst>
          </p:cNvPr>
          <p:cNvCxnSpPr>
            <a:cxnSpLocks/>
          </p:cNvCxnSpPr>
          <p:nvPr/>
        </p:nvCxnSpPr>
        <p:spPr>
          <a:xfrm>
            <a:off x="4404072" y="1951821"/>
            <a:ext cx="684170" cy="1"/>
          </a:xfrm>
          <a:prstGeom prst="straightConnector1">
            <a:avLst/>
          </a:prstGeom>
          <a:noFill/>
          <a:ln w="381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C0A9EB-BE4C-49C2-BC64-CDA713F0D91A}"/>
              </a:ext>
            </a:extLst>
          </p:cNvPr>
          <p:cNvCxnSpPr>
            <a:cxnSpLocks/>
          </p:cNvCxnSpPr>
          <p:nvPr/>
        </p:nvCxnSpPr>
        <p:spPr>
          <a:xfrm>
            <a:off x="4445680" y="2894878"/>
            <a:ext cx="684170" cy="1"/>
          </a:xfrm>
          <a:prstGeom prst="straightConnector1">
            <a:avLst/>
          </a:prstGeom>
          <a:noFill/>
          <a:ln w="381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E05493-DE0F-4704-9339-581EEFA8C5B3}"/>
              </a:ext>
            </a:extLst>
          </p:cNvPr>
          <p:cNvCxnSpPr>
            <a:cxnSpLocks/>
          </p:cNvCxnSpPr>
          <p:nvPr/>
        </p:nvCxnSpPr>
        <p:spPr>
          <a:xfrm>
            <a:off x="4462866" y="3864128"/>
            <a:ext cx="684170" cy="1"/>
          </a:xfrm>
          <a:prstGeom prst="straightConnector1">
            <a:avLst/>
          </a:prstGeom>
          <a:noFill/>
          <a:ln w="381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5832A8-C289-4AB8-9D72-3F2B3738A786}"/>
              </a:ext>
            </a:extLst>
          </p:cNvPr>
          <p:cNvCxnSpPr>
            <a:cxnSpLocks/>
          </p:cNvCxnSpPr>
          <p:nvPr/>
        </p:nvCxnSpPr>
        <p:spPr>
          <a:xfrm>
            <a:off x="4445680" y="4795402"/>
            <a:ext cx="684170" cy="1"/>
          </a:xfrm>
          <a:prstGeom prst="straightConnector1">
            <a:avLst/>
          </a:prstGeom>
          <a:noFill/>
          <a:ln w="381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D277B7-12F2-4F62-A784-30118647766C}"/>
              </a:ext>
            </a:extLst>
          </p:cNvPr>
          <p:cNvCxnSpPr>
            <a:cxnSpLocks/>
          </p:cNvCxnSpPr>
          <p:nvPr/>
        </p:nvCxnSpPr>
        <p:spPr>
          <a:xfrm>
            <a:off x="4409036" y="5743911"/>
            <a:ext cx="684170" cy="1"/>
          </a:xfrm>
          <a:prstGeom prst="straightConnector1">
            <a:avLst/>
          </a:prstGeom>
          <a:noFill/>
          <a:ln w="381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28"/>
          <p:cNvSpPr txBox="1"/>
          <p:nvPr/>
        </p:nvSpPr>
        <p:spPr>
          <a:xfrm>
            <a:off x="9432174" y="6480492"/>
            <a:ext cx="4023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  <p:sp>
        <p:nvSpPr>
          <p:cNvPr id="134" name="Title 1"/>
          <p:cNvSpPr txBox="1">
            <a:spLocks noGrp="1"/>
          </p:cNvSpPr>
          <p:nvPr>
            <p:ph type="title"/>
          </p:nvPr>
        </p:nvSpPr>
        <p:spPr>
          <a:xfrm>
            <a:off x="469900" y="593725"/>
            <a:ext cx="4138161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METHODOLOGY</a:t>
            </a:r>
          </a:p>
        </p:txBody>
      </p:sp>
      <p:pic>
        <p:nvPicPr>
          <p:cNvPr id="135" name="Picture 3" descr="Picture 3"/>
          <p:cNvPicPr>
            <a:picLocks noChangeAspect="1"/>
          </p:cNvPicPr>
          <p:nvPr/>
        </p:nvPicPr>
        <p:blipFill>
          <a:blip r:embed="rId2"/>
          <a:srcRect l="27439" t="2273" r="18368" b="4442"/>
          <a:stretch>
            <a:fillRect/>
          </a:stretch>
        </p:blipFill>
        <p:spPr>
          <a:xfrm>
            <a:off x="4926955" y="552168"/>
            <a:ext cx="6221394" cy="5804183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Box 4"/>
          <p:cNvSpPr txBox="1"/>
          <p:nvPr/>
        </p:nvSpPr>
        <p:spPr>
          <a:xfrm>
            <a:off x="575933" y="3116580"/>
            <a:ext cx="2732784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914400">
              <a:lnSpc>
                <a:spcPct val="90000"/>
              </a:lnSpc>
              <a:defRPr sz="3500">
                <a:solidFill>
                  <a:schemeClr val="accent1">
                    <a:lumOff val="12058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CRISP DM</a:t>
            </a:r>
          </a:p>
        </p:txBody>
      </p:sp>
      <p:sp>
        <p:nvSpPr>
          <p:cNvPr id="137" name="TextBox 18"/>
          <p:cNvSpPr txBox="1"/>
          <p:nvPr/>
        </p:nvSpPr>
        <p:spPr>
          <a:xfrm>
            <a:off x="10566559" y="14426"/>
            <a:ext cx="175459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138" name="Graphic 19" descr="Graphic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189" y="22251"/>
            <a:ext cx="304389" cy="304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PROJECT UNDERSTANDING</a:t>
            </a:r>
          </a:p>
        </p:txBody>
      </p:sp>
      <p:sp>
        <p:nvSpPr>
          <p:cNvPr id="141" name="Oval 9"/>
          <p:cNvSpPr/>
          <p:nvPr/>
        </p:nvSpPr>
        <p:spPr>
          <a:xfrm>
            <a:off x="1069879" y="2003574"/>
            <a:ext cx="1252331" cy="1292089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2" name="Oval 11"/>
          <p:cNvSpPr/>
          <p:nvPr/>
        </p:nvSpPr>
        <p:spPr>
          <a:xfrm>
            <a:off x="9073321" y="2003574"/>
            <a:ext cx="1252331" cy="1292089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3" name="TextBox 14"/>
          <p:cNvSpPr txBox="1"/>
          <p:nvPr/>
        </p:nvSpPr>
        <p:spPr>
          <a:xfrm>
            <a:off x="1308272" y="3509004"/>
            <a:ext cx="108034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WHY</a:t>
            </a:r>
          </a:p>
        </p:txBody>
      </p:sp>
      <p:sp>
        <p:nvSpPr>
          <p:cNvPr id="144" name="TextBox 15"/>
          <p:cNvSpPr txBox="1"/>
          <p:nvPr/>
        </p:nvSpPr>
        <p:spPr>
          <a:xfrm>
            <a:off x="5633168" y="3509004"/>
            <a:ext cx="108034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chemeClr val="accent1">
                    <a:lumOff val="12058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WHAT</a:t>
            </a:r>
          </a:p>
        </p:txBody>
      </p:sp>
      <p:sp>
        <p:nvSpPr>
          <p:cNvPr id="145" name="TextBox 16"/>
          <p:cNvSpPr txBox="1"/>
          <p:nvPr/>
        </p:nvSpPr>
        <p:spPr>
          <a:xfrm>
            <a:off x="9286314" y="3476568"/>
            <a:ext cx="108034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chemeClr val="accent1">
                    <a:lumOff val="24117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HOW</a:t>
            </a:r>
          </a:p>
        </p:txBody>
      </p:sp>
      <p:sp>
        <p:nvSpPr>
          <p:cNvPr id="146" name="Oval 22"/>
          <p:cNvSpPr/>
          <p:nvPr/>
        </p:nvSpPr>
        <p:spPr>
          <a:xfrm>
            <a:off x="5469835" y="2006638"/>
            <a:ext cx="1252330" cy="1292089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" name="TextBox 24"/>
          <p:cNvSpPr txBox="1"/>
          <p:nvPr/>
        </p:nvSpPr>
        <p:spPr>
          <a:xfrm>
            <a:off x="1177406" y="4350786"/>
            <a:ext cx="2715583" cy="89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200526" indent="-200526">
              <a:lnSpc>
                <a:spcPct val="120000"/>
              </a:lnSpc>
              <a:buSzPct val="100000"/>
              <a:buChar char="•"/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Customer </a:t>
            </a:r>
            <a:r>
              <a:rPr lang="en-US" dirty="0"/>
              <a:t>Retention</a:t>
            </a:r>
            <a:endParaRPr dirty="0"/>
          </a:p>
          <a:p>
            <a:pPr marL="200526" indent="-200526">
              <a:lnSpc>
                <a:spcPct val="120000"/>
              </a:lnSpc>
              <a:buSzPct val="100000"/>
              <a:buChar char="•"/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dirty="0"/>
              <a:t>Customer Satisfaction</a:t>
            </a:r>
            <a:endParaRPr dirty="0"/>
          </a:p>
          <a:p>
            <a:pPr marL="200526" indent="-200526">
              <a:lnSpc>
                <a:spcPct val="120000"/>
              </a:lnSpc>
              <a:buSzPct val="100000"/>
              <a:buChar char="•"/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/>
              <a:t>Cost</a:t>
            </a:r>
          </a:p>
        </p:txBody>
      </p:sp>
      <p:sp>
        <p:nvSpPr>
          <p:cNvPr id="148" name="TextBox 25"/>
          <p:cNvSpPr txBox="1"/>
          <p:nvPr/>
        </p:nvSpPr>
        <p:spPr>
          <a:xfrm>
            <a:off x="5492713" y="4292300"/>
            <a:ext cx="2075975" cy="620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150394" indent="-150394">
              <a:lnSpc>
                <a:spcPct val="120000"/>
              </a:lnSpc>
              <a:buSzPct val="100000"/>
              <a:buChar char="•"/>
              <a:defRPr sz="15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Predictive Model</a:t>
            </a:r>
          </a:p>
          <a:p>
            <a:pPr marL="150394" indent="-150394">
              <a:lnSpc>
                <a:spcPct val="120000"/>
              </a:lnSpc>
              <a:buSzPct val="100000"/>
              <a:buChar char="•"/>
              <a:defRPr sz="15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Profit</a:t>
            </a:r>
            <a:r>
              <a:rPr lang="en-US" dirty="0"/>
              <a:t> Maximisation</a:t>
            </a:r>
            <a:endParaRPr dirty="0"/>
          </a:p>
        </p:txBody>
      </p:sp>
      <p:sp>
        <p:nvSpPr>
          <p:cNvPr id="149" name="TextBox 26"/>
          <p:cNvSpPr txBox="1"/>
          <p:nvPr/>
        </p:nvSpPr>
        <p:spPr>
          <a:xfrm>
            <a:off x="9188438" y="4129913"/>
            <a:ext cx="1875942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50394" indent="-150394">
              <a:lnSpc>
                <a:spcPct val="120000"/>
              </a:lnSpc>
              <a:buSzPct val="100000"/>
              <a:buChar char="•"/>
              <a:defRPr sz="15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Cutting Edge AI</a:t>
            </a:r>
          </a:p>
          <a:p>
            <a:pPr marL="150394" indent="-150394">
              <a:lnSpc>
                <a:spcPct val="120000"/>
              </a:lnSpc>
              <a:buSzPct val="100000"/>
              <a:buChar char="•"/>
              <a:defRPr sz="15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Analytical Skills</a:t>
            </a:r>
          </a:p>
          <a:p>
            <a:pPr marL="150394" indent="-150394">
              <a:lnSpc>
                <a:spcPct val="120000"/>
              </a:lnSpc>
              <a:buSzPct val="100000"/>
              <a:buChar char="•"/>
              <a:defRPr sz="15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Business Acumen</a:t>
            </a:r>
          </a:p>
        </p:txBody>
      </p:sp>
      <p:sp>
        <p:nvSpPr>
          <p:cNvPr id="150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151" name="Graphic 20" descr="Graphic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Footer Placeholder 5"/>
          <p:cNvSpPr txBox="1"/>
          <p:nvPr/>
        </p:nvSpPr>
        <p:spPr>
          <a:xfrm>
            <a:off x="9499928" y="6489437"/>
            <a:ext cx="314894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  <p:pic>
        <p:nvPicPr>
          <p:cNvPr id="153" name="question.png" descr="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05" y="2292680"/>
            <a:ext cx="713878" cy="713878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Line"/>
          <p:cNvSpPr/>
          <p:nvPr/>
        </p:nvSpPr>
        <p:spPr>
          <a:xfrm flipV="1">
            <a:off x="4279900" y="3354663"/>
            <a:ext cx="1" cy="2182537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Line"/>
          <p:cNvSpPr/>
          <p:nvPr/>
        </p:nvSpPr>
        <p:spPr>
          <a:xfrm flipV="1">
            <a:off x="8217870" y="3354663"/>
            <a:ext cx="1" cy="2182537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6" name="question-mark.png" descr="question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399" y="2294018"/>
            <a:ext cx="711201" cy="711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9DC1D2C9-614B-4627-A7B0-7DBB75F441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014" y="2187648"/>
            <a:ext cx="824395" cy="8243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4" grpId="0" animBg="1"/>
      <p:bldP spid="1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DATA INSIGHTS</a:t>
            </a:r>
          </a:p>
        </p:txBody>
      </p:sp>
      <p:graphicFrame>
        <p:nvGraphicFramePr>
          <p:cNvPr id="159" name="Chart 5"/>
          <p:cNvGraphicFramePr/>
          <p:nvPr/>
        </p:nvGraphicFramePr>
        <p:xfrm>
          <a:off x="3465453" y="1962438"/>
          <a:ext cx="7627017" cy="1185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0" name="Chart 8"/>
          <p:cNvGraphicFramePr/>
          <p:nvPr>
            <p:extLst>
              <p:ext uri="{D42A27DB-BD31-4B8C-83A1-F6EECF244321}">
                <p14:modId xmlns:p14="http://schemas.microsoft.com/office/powerpoint/2010/main" val="3159659440"/>
              </p:ext>
            </p:extLst>
          </p:nvPr>
        </p:nvGraphicFramePr>
        <p:xfrm>
          <a:off x="597972" y="4111131"/>
          <a:ext cx="6255194" cy="1322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1" name="Chart 9"/>
          <p:cNvGraphicFramePr/>
          <p:nvPr/>
        </p:nvGraphicFramePr>
        <p:xfrm>
          <a:off x="8188703" y="4342053"/>
          <a:ext cx="3587854" cy="690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2" name="TextBox 10"/>
          <p:cNvSpPr txBox="1"/>
          <p:nvPr/>
        </p:nvSpPr>
        <p:spPr>
          <a:xfrm>
            <a:off x="3030491" y="2446150"/>
            <a:ext cx="78520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10%</a:t>
            </a:r>
          </a:p>
        </p:txBody>
      </p:sp>
      <p:sp>
        <p:nvSpPr>
          <p:cNvPr id="163" name="TextBox 11"/>
          <p:cNvSpPr txBox="1"/>
          <p:nvPr/>
        </p:nvSpPr>
        <p:spPr>
          <a:xfrm>
            <a:off x="8888068" y="2398900"/>
            <a:ext cx="78520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rPr dirty="0"/>
              <a:t>90%</a:t>
            </a:r>
          </a:p>
        </p:txBody>
      </p:sp>
      <p:sp>
        <p:nvSpPr>
          <p:cNvPr id="164" name="TextBox 12"/>
          <p:cNvSpPr txBox="1"/>
          <p:nvPr/>
        </p:nvSpPr>
        <p:spPr>
          <a:xfrm>
            <a:off x="78306" y="4629817"/>
            <a:ext cx="78521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10%</a:t>
            </a:r>
          </a:p>
        </p:txBody>
      </p:sp>
      <p:sp>
        <p:nvSpPr>
          <p:cNvPr id="165" name="TextBox 13"/>
          <p:cNvSpPr txBox="1"/>
          <p:nvPr/>
        </p:nvSpPr>
        <p:spPr>
          <a:xfrm>
            <a:off x="7691748" y="4603696"/>
            <a:ext cx="78520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t>10%</a:t>
            </a:r>
          </a:p>
        </p:txBody>
      </p:sp>
      <p:sp>
        <p:nvSpPr>
          <p:cNvPr id="166" name="TextBox 14"/>
          <p:cNvSpPr txBox="1"/>
          <p:nvPr/>
        </p:nvSpPr>
        <p:spPr>
          <a:xfrm>
            <a:off x="11080018" y="4539679"/>
            <a:ext cx="78520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90%</a:t>
            </a:r>
          </a:p>
        </p:txBody>
      </p:sp>
      <p:sp>
        <p:nvSpPr>
          <p:cNvPr id="167" name="TextBox 15"/>
          <p:cNvSpPr txBox="1"/>
          <p:nvPr/>
        </p:nvSpPr>
        <p:spPr>
          <a:xfrm>
            <a:off x="5605008" y="4624961"/>
            <a:ext cx="78520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90%</a:t>
            </a:r>
          </a:p>
        </p:txBody>
      </p:sp>
      <p:sp>
        <p:nvSpPr>
          <p:cNvPr id="168" name="TextBox 16"/>
          <p:cNvSpPr txBox="1"/>
          <p:nvPr/>
        </p:nvSpPr>
        <p:spPr>
          <a:xfrm>
            <a:off x="4351292" y="3256379"/>
            <a:ext cx="78520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86%</a:t>
            </a:r>
          </a:p>
        </p:txBody>
      </p:sp>
      <p:sp>
        <p:nvSpPr>
          <p:cNvPr id="169" name="TextBox 17"/>
          <p:cNvSpPr txBox="1"/>
          <p:nvPr/>
        </p:nvSpPr>
        <p:spPr>
          <a:xfrm>
            <a:off x="7905362" y="3259854"/>
            <a:ext cx="78520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14%</a:t>
            </a:r>
          </a:p>
        </p:txBody>
      </p:sp>
      <p:sp>
        <p:nvSpPr>
          <p:cNvPr id="170" name="Left Brace 19"/>
          <p:cNvSpPr/>
          <p:nvPr/>
        </p:nvSpPr>
        <p:spPr>
          <a:xfrm rot="5400000">
            <a:off x="2927179" y="1748463"/>
            <a:ext cx="450167" cy="49054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15635" y="21600"/>
                  <a:pt x="10800" y="21530"/>
                  <a:pt x="10800" y="21445"/>
                </a:cubicBezTo>
                <a:lnTo>
                  <a:pt x="10800" y="10955"/>
                </a:lnTo>
                <a:cubicBezTo>
                  <a:pt x="10800" y="10870"/>
                  <a:pt x="5965" y="10800"/>
                  <a:pt x="0" y="10800"/>
                </a:cubicBezTo>
                <a:cubicBezTo>
                  <a:pt x="5965" y="10800"/>
                  <a:pt x="10800" y="10730"/>
                  <a:pt x="10800" y="10645"/>
                </a:cubicBezTo>
                <a:lnTo>
                  <a:pt x="10800" y="155"/>
                </a:lnTo>
                <a:cubicBezTo>
                  <a:pt x="10800" y="70"/>
                  <a:pt x="15635" y="0"/>
                  <a:pt x="21600" y="0"/>
                </a:cubicBezTo>
              </a:path>
            </a:pathLst>
          </a:custGeom>
          <a:ln w="63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71" name="Left Brace 20"/>
          <p:cNvSpPr/>
          <p:nvPr/>
        </p:nvSpPr>
        <p:spPr>
          <a:xfrm rot="5400000">
            <a:off x="9448194" y="2903312"/>
            <a:ext cx="450167" cy="28134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15635" y="21600"/>
                  <a:pt x="10800" y="21464"/>
                  <a:pt x="10800" y="21297"/>
                </a:cubicBezTo>
                <a:lnTo>
                  <a:pt x="10800" y="11103"/>
                </a:lnTo>
                <a:cubicBezTo>
                  <a:pt x="10800" y="10936"/>
                  <a:pt x="5965" y="10800"/>
                  <a:pt x="0" y="10800"/>
                </a:cubicBezTo>
                <a:cubicBezTo>
                  <a:pt x="5965" y="10800"/>
                  <a:pt x="10800" y="10664"/>
                  <a:pt x="10800" y="10497"/>
                </a:cubicBezTo>
                <a:lnTo>
                  <a:pt x="10800" y="303"/>
                </a:lnTo>
                <a:cubicBezTo>
                  <a:pt x="10800" y="136"/>
                  <a:pt x="15635" y="0"/>
                  <a:pt x="21600" y="0"/>
                </a:cubicBezTo>
              </a:path>
            </a:pathLst>
          </a:custGeom>
          <a:ln w="63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72" name="Straight Arrow Connector 22"/>
          <p:cNvSpPr/>
          <p:nvPr/>
        </p:nvSpPr>
        <p:spPr>
          <a:xfrm flipH="1">
            <a:off x="3530991" y="2912012"/>
            <a:ext cx="2940147" cy="1172955"/>
          </a:xfrm>
          <a:prstGeom prst="line">
            <a:avLst/>
          </a:prstGeom>
          <a:ln w="25400">
            <a:solidFill>
              <a:schemeClr val="accent1">
                <a:lumOff val="12058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Straight Arrow Connector 23"/>
          <p:cNvSpPr/>
          <p:nvPr/>
        </p:nvSpPr>
        <p:spPr>
          <a:xfrm>
            <a:off x="6468854" y="2912012"/>
            <a:ext cx="2689215" cy="1172954"/>
          </a:xfrm>
          <a:prstGeom prst="line">
            <a:avLst/>
          </a:prstGeom>
          <a:ln w="25400">
            <a:solidFill>
              <a:schemeClr val="accent1">
                <a:lumOff val="12058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4" name="TextBox 27"/>
          <p:cNvSpPr txBox="1"/>
          <p:nvPr/>
        </p:nvSpPr>
        <p:spPr>
          <a:xfrm>
            <a:off x="699518" y="5415955"/>
            <a:ext cx="463931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PROMISING CUSTOMER TRANSACTIONS</a:t>
            </a:r>
          </a:p>
        </p:txBody>
      </p:sp>
      <p:sp>
        <p:nvSpPr>
          <p:cNvPr id="175" name="TextBox 29"/>
          <p:cNvSpPr txBox="1"/>
          <p:nvPr/>
        </p:nvSpPr>
        <p:spPr>
          <a:xfrm>
            <a:off x="7924878" y="5342318"/>
            <a:ext cx="394034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RADICAL CUSTOMER TRANSACTIONS</a:t>
            </a:r>
          </a:p>
        </p:txBody>
      </p:sp>
      <p:sp>
        <p:nvSpPr>
          <p:cNvPr id="176" name="TextBox 30"/>
          <p:cNvSpPr txBox="1"/>
          <p:nvPr/>
        </p:nvSpPr>
        <p:spPr>
          <a:xfrm>
            <a:off x="4840518" y="1737679"/>
            <a:ext cx="390769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TOTAL CUSTOMER TRANSACTIONS</a:t>
            </a:r>
          </a:p>
        </p:txBody>
      </p:sp>
      <p:sp>
        <p:nvSpPr>
          <p:cNvPr id="177" name="TextBox 31"/>
          <p:cNvSpPr txBox="1"/>
          <p:nvPr/>
        </p:nvSpPr>
        <p:spPr>
          <a:xfrm>
            <a:off x="516630" y="2150854"/>
            <a:ext cx="234326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200 Features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100,000 Records</a:t>
            </a:r>
          </a:p>
        </p:txBody>
      </p:sp>
      <p:sp>
        <p:nvSpPr>
          <p:cNvPr id="178" name="Footer Placeholder 5"/>
          <p:cNvSpPr txBox="1"/>
          <p:nvPr/>
        </p:nvSpPr>
        <p:spPr>
          <a:xfrm>
            <a:off x="9499928" y="6489437"/>
            <a:ext cx="314894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  <p:sp>
        <p:nvSpPr>
          <p:cNvPr id="179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180" name="Graphic 20" descr="Graphic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 advAuto="0"/>
      <p:bldP spid="160" grpId="0" animBg="1" advAuto="0"/>
      <p:bldP spid="161" grpId="0" animBg="1" advAuto="0"/>
      <p:bldP spid="162" grpId="0" animBg="1" advAuto="0"/>
      <p:bldP spid="163" grpId="0" animBg="1" advAuto="0"/>
      <p:bldP spid="164" grpId="0" animBg="1" advAuto="0"/>
      <p:bldP spid="165" grpId="0" animBg="1" advAuto="0"/>
      <p:bldP spid="166" grpId="0" animBg="1" advAuto="0"/>
      <p:bldP spid="167" grpId="0" animBg="1" advAuto="0"/>
      <p:bldP spid="168" grpId="0" animBg="1" advAuto="0"/>
      <p:bldP spid="169" grpId="0" animBg="1" advAuto="0"/>
      <p:bldP spid="170" grpId="0" animBg="1" advAuto="0"/>
      <p:bldP spid="171" grpId="0" animBg="1" advAuto="0"/>
      <p:bldP spid="172" grpId="0" animBg="1" advAuto="0"/>
      <p:bldP spid="173" grpId="0" animBg="1" advAuto="0"/>
      <p:bldP spid="174" grpId="0" animBg="1" advAuto="0"/>
      <p:bldP spid="175" grpId="0" animBg="1" advAuto="0"/>
      <p:bldP spid="176" grpId="0" animBg="1" advAuto="0"/>
      <p:bldP spid="177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LET’S TALK BUSINESS</a:t>
            </a:r>
          </a:p>
        </p:txBody>
      </p:sp>
      <p:sp>
        <p:nvSpPr>
          <p:cNvPr id="183" name="Oval 9"/>
          <p:cNvSpPr/>
          <p:nvPr/>
        </p:nvSpPr>
        <p:spPr>
          <a:xfrm>
            <a:off x="2430292" y="1690688"/>
            <a:ext cx="2193907" cy="2050797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4" name="TextBox 14"/>
          <p:cNvSpPr txBox="1"/>
          <p:nvPr/>
        </p:nvSpPr>
        <p:spPr>
          <a:xfrm>
            <a:off x="2030619" y="4080373"/>
            <a:ext cx="2993258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chemeClr val="accent1">
                    <a:lumOff val="12058"/>
                  </a:schemeClr>
                </a:solidFill>
              </a:defRPr>
            </a:lvl1pPr>
          </a:lstStyle>
          <a:p>
            <a:r>
              <a:t>PRIMARY GOAL</a:t>
            </a:r>
          </a:p>
        </p:txBody>
      </p:sp>
      <p:sp>
        <p:nvSpPr>
          <p:cNvPr id="185" name="TextBox 24"/>
          <p:cNvSpPr txBox="1"/>
          <p:nvPr/>
        </p:nvSpPr>
        <p:spPr>
          <a:xfrm>
            <a:off x="1815586" y="4786567"/>
            <a:ext cx="366389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Retain all the promising customers</a:t>
            </a:r>
          </a:p>
        </p:txBody>
      </p:sp>
      <p:sp>
        <p:nvSpPr>
          <p:cNvPr id="186" name="Oval 17"/>
          <p:cNvSpPr/>
          <p:nvPr/>
        </p:nvSpPr>
        <p:spPr>
          <a:xfrm>
            <a:off x="7567801" y="1690688"/>
            <a:ext cx="2193907" cy="2050797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7" name="TextBox 19"/>
          <p:cNvSpPr txBox="1"/>
          <p:nvPr/>
        </p:nvSpPr>
        <p:spPr>
          <a:xfrm>
            <a:off x="7168124" y="4080373"/>
            <a:ext cx="2993258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chemeClr val="accent1">
                    <a:lumOff val="12058"/>
                  </a:schemeClr>
                </a:solidFill>
              </a:defRPr>
            </a:lvl1pPr>
          </a:lstStyle>
          <a:p>
            <a:r>
              <a:t>SECONDARY GOAL</a:t>
            </a:r>
          </a:p>
        </p:txBody>
      </p:sp>
      <p:sp>
        <p:nvSpPr>
          <p:cNvPr id="188" name="TextBox 20"/>
          <p:cNvSpPr txBox="1"/>
          <p:nvPr/>
        </p:nvSpPr>
        <p:spPr>
          <a:xfrm>
            <a:off x="7025789" y="4763744"/>
            <a:ext cx="366389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Cost Optimisation (Maximise Profit)</a:t>
            </a:r>
          </a:p>
        </p:txBody>
      </p:sp>
      <p:sp>
        <p:nvSpPr>
          <p:cNvPr id="189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190" name="Graphic 20" descr="Graphic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Footer Placeholder 5"/>
          <p:cNvSpPr txBox="1"/>
          <p:nvPr/>
        </p:nvSpPr>
        <p:spPr>
          <a:xfrm>
            <a:off x="9499928" y="6489437"/>
            <a:ext cx="314894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C85B38-C055-466A-8802-175EE66105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746" y="2305050"/>
            <a:ext cx="826526" cy="8265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CAE179-674F-4921-A807-D4B0E89DA5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273" y="2294456"/>
            <a:ext cx="822960" cy="8371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34"/>
          <p:cNvSpPr/>
          <p:nvPr/>
        </p:nvSpPr>
        <p:spPr>
          <a:xfrm>
            <a:off x="5477607" y="3771900"/>
            <a:ext cx="6022731" cy="1454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19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LET’S TALK BUSINESS</a:t>
            </a:r>
          </a:p>
        </p:txBody>
      </p:sp>
      <p:sp>
        <p:nvSpPr>
          <p:cNvPr id="195" name="TextBox 2"/>
          <p:cNvSpPr txBox="1"/>
          <p:nvPr/>
        </p:nvSpPr>
        <p:spPr>
          <a:xfrm>
            <a:off x="883919" y="1400452"/>
            <a:ext cx="259900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Without Our Model</a:t>
            </a:r>
          </a:p>
        </p:txBody>
      </p:sp>
      <p:sp>
        <p:nvSpPr>
          <p:cNvPr id="196" name="TextBox 3"/>
          <p:cNvSpPr txBox="1"/>
          <p:nvPr/>
        </p:nvSpPr>
        <p:spPr>
          <a:xfrm>
            <a:off x="3269565" y="2212294"/>
            <a:ext cx="317050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100 Customer Transactions</a:t>
            </a:r>
          </a:p>
        </p:txBody>
      </p:sp>
      <p:sp>
        <p:nvSpPr>
          <p:cNvPr id="197" name="TextBox 4"/>
          <p:cNvSpPr txBox="1"/>
          <p:nvPr/>
        </p:nvSpPr>
        <p:spPr>
          <a:xfrm>
            <a:off x="6736665" y="1842961"/>
            <a:ext cx="317050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10 Positive</a:t>
            </a:r>
          </a:p>
        </p:txBody>
      </p:sp>
      <p:sp>
        <p:nvSpPr>
          <p:cNvPr id="198" name="TextBox 5"/>
          <p:cNvSpPr txBox="1"/>
          <p:nvPr/>
        </p:nvSpPr>
        <p:spPr>
          <a:xfrm>
            <a:off x="6736665" y="2581625"/>
            <a:ext cx="317050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90 Negative</a:t>
            </a:r>
          </a:p>
        </p:txBody>
      </p:sp>
      <p:sp>
        <p:nvSpPr>
          <p:cNvPr id="199" name="Straight Arrow Connector 7"/>
          <p:cNvSpPr/>
          <p:nvPr/>
        </p:nvSpPr>
        <p:spPr>
          <a:xfrm flipV="1">
            <a:off x="5914292" y="2027628"/>
            <a:ext cx="776655" cy="369333"/>
          </a:xfrm>
          <a:prstGeom prst="line">
            <a:avLst/>
          </a:prstGeom>
          <a:ln w="25400">
            <a:solidFill>
              <a:schemeClr val="accent1">
                <a:lumOff val="12058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" name="Straight Arrow Connector 8"/>
          <p:cNvSpPr/>
          <p:nvPr/>
        </p:nvSpPr>
        <p:spPr>
          <a:xfrm>
            <a:off x="5914292" y="2396960"/>
            <a:ext cx="776655" cy="369333"/>
          </a:xfrm>
          <a:prstGeom prst="line">
            <a:avLst/>
          </a:prstGeom>
          <a:ln w="25400">
            <a:solidFill>
              <a:schemeClr val="accent1">
                <a:lumOff val="12058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Rectangle 11"/>
          <p:cNvSpPr/>
          <p:nvPr/>
        </p:nvSpPr>
        <p:spPr>
          <a:xfrm>
            <a:off x="838200" y="3343202"/>
            <a:ext cx="3431931" cy="8045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02" name="TextBox 12"/>
          <p:cNvSpPr txBox="1"/>
          <p:nvPr/>
        </p:nvSpPr>
        <p:spPr>
          <a:xfrm>
            <a:off x="974773" y="3422300"/>
            <a:ext cx="360133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Avg. Cost per cust.           = ‘C’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Avg. Revenue per cust.    = ‘R’</a:t>
            </a:r>
          </a:p>
        </p:txBody>
      </p:sp>
      <p:sp>
        <p:nvSpPr>
          <p:cNvPr id="203" name="Rectangle 13"/>
          <p:cNvSpPr/>
          <p:nvPr/>
        </p:nvSpPr>
        <p:spPr>
          <a:xfrm>
            <a:off x="838200" y="4501462"/>
            <a:ext cx="3431931" cy="8045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04" name="TextBox 14"/>
          <p:cNvSpPr txBox="1"/>
          <p:nvPr/>
        </p:nvSpPr>
        <p:spPr>
          <a:xfrm>
            <a:off x="974773" y="4580559"/>
            <a:ext cx="360133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Total Cost           = 100C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Total Revenue    = 10R</a:t>
            </a:r>
          </a:p>
        </p:txBody>
      </p:sp>
      <p:sp>
        <p:nvSpPr>
          <p:cNvPr id="205" name="Rectangle 15"/>
          <p:cNvSpPr/>
          <p:nvPr/>
        </p:nvSpPr>
        <p:spPr>
          <a:xfrm>
            <a:off x="838200" y="5657165"/>
            <a:ext cx="3431931" cy="558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06" name="TextBox 16"/>
          <p:cNvSpPr txBox="1"/>
          <p:nvPr/>
        </p:nvSpPr>
        <p:spPr>
          <a:xfrm>
            <a:off x="974773" y="5736263"/>
            <a:ext cx="360133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Profit Requirement:  R &gt; 10C</a:t>
            </a:r>
          </a:p>
        </p:txBody>
      </p:sp>
      <p:sp>
        <p:nvSpPr>
          <p:cNvPr id="207" name="Oval 21"/>
          <p:cNvSpPr/>
          <p:nvPr/>
        </p:nvSpPr>
        <p:spPr>
          <a:xfrm>
            <a:off x="10101470" y="3855418"/>
            <a:ext cx="1252331" cy="1292089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8" name="Graphic 22" descr="Graphic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0222" y="4068631"/>
            <a:ext cx="707762" cy="7077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Box 27"/>
          <p:cNvSpPr txBox="1"/>
          <p:nvPr/>
        </p:nvSpPr>
        <p:spPr>
          <a:xfrm>
            <a:off x="5676970" y="3963060"/>
            <a:ext cx="4207998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1. Target is very high, Profitability very low</a:t>
            </a:r>
          </a:p>
        </p:txBody>
      </p:sp>
      <p:sp>
        <p:nvSpPr>
          <p:cNvPr id="210" name="TextBox 28"/>
          <p:cNvSpPr txBox="1"/>
          <p:nvPr/>
        </p:nvSpPr>
        <p:spPr>
          <a:xfrm>
            <a:off x="5699174" y="4640617"/>
            <a:ext cx="420799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2. Cost of the Project needs to be reduced</a:t>
            </a:r>
          </a:p>
        </p:txBody>
      </p:sp>
      <p:sp>
        <p:nvSpPr>
          <p:cNvPr id="211" name="Straight Arrow Connector 30"/>
          <p:cNvSpPr/>
          <p:nvPr/>
        </p:nvSpPr>
        <p:spPr>
          <a:xfrm flipH="1">
            <a:off x="4018085" y="4147727"/>
            <a:ext cx="1613166" cy="1672781"/>
          </a:xfrm>
          <a:prstGeom prst="line">
            <a:avLst/>
          </a:prstGeom>
          <a:ln w="25400">
            <a:solidFill>
              <a:schemeClr val="accent1">
                <a:lumOff val="12058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" name="Straight Arrow Connector 31"/>
          <p:cNvSpPr/>
          <p:nvPr/>
        </p:nvSpPr>
        <p:spPr>
          <a:xfrm flipH="1" flipV="1">
            <a:off x="3539749" y="4762669"/>
            <a:ext cx="2113706" cy="62614"/>
          </a:xfrm>
          <a:prstGeom prst="line">
            <a:avLst/>
          </a:prstGeom>
          <a:ln w="25400">
            <a:solidFill>
              <a:schemeClr val="accent1">
                <a:lumOff val="12058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3" name="Rectangle 35"/>
          <p:cNvSpPr/>
          <p:nvPr/>
        </p:nvSpPr>
        <p:spPr>
          <a:xfrm>
            <a:off x="3291254" y="1665109"/>
            <a:ext cx="4938347" cy="1454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14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215" name="Graphic 20" descr="Graphic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Footer Placeholder 5"/>
          <p:cNvSpPr txBox="1"/>
          <p:nvPr/>
        </p:nvSpPr>
        <p:spPr>
          <a:xfrm>
            <a:off x="9499928" y="6489437"/>
            <a:ext cx="314894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 advAuto="0"/>
      <p:bldP spid="195" grpId="0" animBg="1" advAuto="0"/>
      <p:bldP spid="196" grpId="0" animBg="1" advAuto="0"/>
      <p:bldP spid="197" grpId="0" animBg="1" advAuto="0"/>
      <p:bldP spid="198" grpId="0" animBg="1" advAuto="0"/>
      <p:bldP spid="199" grpId="0" animBg="1" advAuto="0"/>
      <p:bldP spid="200" grpId="0" animBg="1" advAuto="0"/>
      <p:bldP spid="201" grpId="0" animBg="1" advAuto="0"/>
      <p:bldP spid="202" grpId="0" animBg="1" advAuto="0"/>
      <p:bldP spid="203" grpId="0" animBg="1" advAuto="0"/>
      <p:bldP spid="204" grpId="0" animBg="1" advAuto="0"/>
      <p:bldP spid="205" grpId="0" animBg="1" advAuto="0"/>
      <p:bldP spid="206" grpId="0" animBg="1" advAuto="0"/>
      <p:bldP spid="207" grpId="0" animBg="1" advAuto="0"/>
      <p:bldP spid="208" grpId="0" animBg="1" advAuto="0"/>
      <p:bldP spid="209" grpId="0" animBg="1" advAuto="0"/>
      <p:bldP spid="210" grpId="0" animBg="1" advAuto="0"/>
      <p:bldP spid="211" grpId="0" animBg="1" advAuto="0"/>
      <p:bldP spid="212" grpId="0" animBg="1" advAuto="0"/>
      <p:bldP spid="213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n-US" dirty="0"/>
              <a:t>PROBLEM</a:t>
            </a:r>
            <a:r>
              <a:rPr dirty="0"/>
              <a:t> SOLUTION</a:t>
            </a:r>
          </a:p>
        </p:txBody>
      </p:sp>
      <p:sp>
        <p:nvSpPr>
          <p:cNvPr id="219" name="TextBox 2"/>
          <p:cNvSpPr txBox="1"/>
          <p:nvPr/>
        </p:nvSpPr>
        <p:spPr>
          <a:xfrm>
            <a:off x="883919" y="1330137"/>
            <a:ext cx="176729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With Our Model</a:t>
            </a:r>
          </a:p>
        </p:txBody>
      </p:sp>
      <p:sp>
        <p:nvSpPr>
          <p:cNvPr id="220" name="TextBox 3"/>
          <p:cNvSpPr txBox="1"/>
          <p:nvPr/>
        </p:nvSpPr>
        <p:spPr>
          <a:xfrm>
            <a:off x="1129016" y="3355356"/>
            <a:ext cx="1335846" cy="81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100</a:t>
            </a:r>
            <a:r>
              <a:rPr b="0" dirty="0"/>
              <a:t>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Customer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Transactions</a:t>
            </a:r>
          </a:p>
        </p:txBody>
      </p:sp>
      <p:cxnSp>
        <p:nvCxnSpPr>
          <p:cNvPr id="221" name="Straight Arrow Connector 8"/>
          <p:cNvCxnSpPr>
            <a:cxnSpLocks/>
            <a:stCxn id="227" idx="3"/>
          </p:cNvCxnSpPr>
          <p:nvPr/>
        </p:nvCxnSpPr>
        <p:spPr>
          <a:xfrm>
            <a:off x="2404192" y="3879637"/>
            <a:ext cx="1242720" cy="0"/>
          </a:xfrm>
          <a:prstGeom prst="straightConnector1">
            <a:avLst/>
          </a:prstGeom>
          <a:ln w="25400">
            <a:solidFill>
              <a:schemeClr val="accent1">
                <a:lumOff val="12058"/>
              </a:schemeClr>
            </a:solidFill>
            <a:miter/>
            <a:tailEnd type="triangle"/>
          </a:ln>
        </p:spPr>
      </p:cxnSp>
      <p:sp>
        <p:nvSpPr>
          <p:cNvPr id="222" name="TextBox 14"/>
          <p:cNvSpPr txBox="1"/>
          <p:nvPr/>
        </p:nvSpPr>
        <p:spPr>
          <a:xfrm>
            <a:off x="3649843" y="3184463"/>
            <a:ext cx="1517553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 b="1">
                <a:latin typeface="+mj-lt"/>
                <a:ea typeface="+mj-ea"/>
                <a:cs typeface="+mj-cs"/>
                <a:sym typeface="Helvetica"/>
              </a:defRPr>
            </a:pPr>
            <a:r>
              <a:t>86</a:t>
            </a:r>
            <a:r>
              <a:rPr b="0"/>
              <a:t>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Promising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Customer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Transactions</a:t>
            </a:r>
          </a:p>
        </p:txBody>
      </p:sp>
      <p:sp>
        <p:nvSpPr>
          <p:cNvPr id="223" name="TextBox 19"/>
          <p:cNvSpPr txBox="1"/>
          <p:nvPr/>
        </p:nvSpPr>
        <p:spPr>
          <a:xfrm>
            <a:off x="2527854" y="3438713"/>
            <a:ext cx="1088491" cy="785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150000"/>
              </a:lnSpc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Data </a:t>
            </a:r>
          </a:p>
          <a:p>
            <a:pPr algn="ctr">
              <a:lnSpc>
                <a:spcPct val="150000"/>
              </a:lnSpc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Insights</a:t>
            </a:r>
          </a:p>
        </p:txBody>
      </p:sp>
      <p:sp>
        <p:nvSpPr>
          <p:cNvPr id="224" name="Straight Arrow Connector 30"/>
          <p:cNvSpPr/>
          <p:nvPr/>
        </p:nvSpPr>
        <p:spPr>
          <a:xfrm>
            <a:off x="5291058" y="3879635"/>
            <a:ext cx="1752600" cy="1"/>
          </a:xfrm>
          <a:prstGeom prst="line">
            <a:avLst/>
          </a:prstGeom>
          <a:ln w="25400">
            <a:solidFill>
              <a:schemeClr val="accent1">
                <a:lumOff val="12058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" name="TextBox 31"/>
          <p:cNvSpPr txBox="1"/>
          <p:nvPr/>
        </p:nvSpPr>
        <p:spPr>
          <a:xfrm>
            <a:off x="5408002" y="3441812"/>
            <a:ext cx="1360757" cy="694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Optimised </a:t>
            </a:r>
          </a:p>
          <a:p>
            <a:pPr algn="ctr">
              <a:lnSpc>
                <a:spcPct val="150000"/>
              </a:lnSpc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ML Classifier</a:t>
            </a:r>
          </a:p>
        </p:txBody>
      </p:sp>
      <p:sp>
        <p:nvSpPr>
          <p:cNvPr id="226" name="TextBox 33"/>
          <p:cNvSpPr txBox="1"/>
          <p:nvPr/>
        </p:nvSpPr>
        <p:spPr>
          <a:xfrm>
            <a:off x="7081408" y="3216855"/>
            <a:ext cx="1517553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 b="1">
                <a:latin typeface="+mj-lt"/>
                <a:ea typeface="+mj-ea"/>
                <a:cs typeface="+mj-cs"/>
                <a:sym typeface="Helvetica"/>
              </a:defRPr>
            </a:pPr>
            <a:r>
              <a:t>34</a:t>
            </a:r>
            <a:r>
              <a:rPr b="0"/>
              <a:t>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Target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Customer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t>Transactions</a:t>
            </a:r>
          </a:p>
        </p:txBody>
      </p:sp>
      <p:sp>
        <p:nvSpPr>
          <p:cNvPr id="227" name="Rectangle 34"/>
          <p:cNvSpPr/>
          <p:nvPr/>
        </p:nvSpPr>
        <p:spPr>
          <a:xfrm>
            <a:off x="1162427" y="3216855"/>
            <a:ext cx="1241765" cy="13255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28" name="Rectangle 35"/>
          <p:cNvSpPr/>
          <p:nvPr/>
        </p:nvSpPr>
        <p:spPr>
          <a:xfrm>
            <a:off x="3633616" y="3189373"/>
            <a:ext cx="1665410" cy="12577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29" name="Rectangle 42"/>
          <p:cNvSpPr/>
          <p:nvPr/>
        </p:nvSpPr>
        <p:spPr>
          <a:xfrm>
            <a:off x="7035689" y="3202491"/>
            <a:ext cx="1665410" cy="12577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30" name="TextBox 45"/>
          <p:cNvSpPr txBox="1"/>
          <p:nvPr/>
        </p:nvSpPr>
        <p:spPr>
          <a:xfrm>
            <a:off x="3649843" y="2535677"/>
            <a:ext cx="151755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lang="en-GB" sz="1400" b="1" dirty="0">
                <a:solidFill>
                  <a:schemeClr val="accent1">
                    <a:lumOff val="12058"/>
                  </a:schemeClr>
                </a:solidFill>
                <a:sym typeface="Helvetica"/>
              </a:rPr>
              <a:t>14% </a:t>
            </a:r>
            <a:r>
              <a:rPr dirty="0"/>
              <a:t>Cost reduc</a:t>
            </a:r>
            <a:r>
              <a:rPr lang="en-US" dirty="0"/>
              <a:t>tion</a:t>
            </a:r>
            <a:endParaRPr b="1" dirty="0">
              <a:solidFill>
                <a:schemeClr val="accent1">
                  <a:lumOff val="12058"/>
                </a:schemeClr>
              </a:solidFill>
            </a:endParaRPr>
          </a:p>
        </p:txBody>
      </p:sp>
      <p:sp>
        <p:nvSpPr>
          <p:cNvPr id="231" name="TextBox 46"/>
          <p:cNvSpPr txBox="1"/>
          <p:nvPr/>
        </p:nvSpPr>
        <p:spPr>
          <a:xfrm>
            <a:off x="7081408" y="2491965"/>
            <a:ext cx="151755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lang="en-US" dirty="0"/>
              <a:t>Additional </a:t>
            </a:r>
            <a:r>
              <a:rPr lang="en-GB" sz="1400" b="1" dirty="0">
                <a:solidFill>
                  <a:schemeClr val="accent1">
                    <a:lumOff val="12058"/>
                  </a:schemeClr>
                </a:solidFill>
                <a:sym typeface="Helvetica"/>
              </a:rPr>
              <a:t>40%</a:t>
            </a:r>
            <a:r>
              <a:rPr lang="en-US" dirty="0"/>
              <a:t> </a:t>
            </a:r>
            <a:r>
              <a:rPr dirty="0"/>
              <a:t>Cost reduc</a:t>
            </a:r>
            <a:r>
              <a:rPr lang="en-US" dirty="0"/>
              <a:t>tion</a:t>
            </a:r>
            <a:endParaRPr b="1" dirty="0">
              <a:solidFill>
                <a:schemeClr val="accent1">
                  <a:lumOff val="12058"/>
                </a:schemeClr>
              </a:solidFill>
            </a:endParaRPr>
          </a:p>
        </p:txBody>
      </p:sp>
      <p:sp>
        <p:nvSpPr>
          <p:cNvPr id="232" name="Oval 47"/>
          <p:cNvSpPr/>
          <p:nvPr/>
        </p:nvSpPr>
        <p:spPr>
          <a:xfrm>
            <a:off x="8969809" y="2935109"/>
            <a:ext cx="1924601" cy="1889053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35" name="Flowchart: Connector 49"/>
          <p:cNvGrpSpPr/>
          <p:nvPr/>
        </p:nvGrpSpPr>
        <p:grpSpPr>
          <a:xfrm>
            <a:off x="9229044" y="3211462"/>
            <a:ext cx="1406131" cy="1336350"/>
            <a:chOff x="-1" y="0"/>
            <a:chExt cx="1406130" cy="1336348"/>
          </a:xfrm>
        </p:grpSpPr>
        <p:sp>
          <p:nvSpPr>
            <p:cNvPr id="233" name="Oval"/>
            <p:cNvSpPr/>
            <p:nvPr/>
          </p:nvSpPr>
          <p:spPr>
            <a:xfrm>
              <a:off x="-1" y="0"/>
              <a:ext cx="1406130" cy="1336348"/>
            </a:xfrm>
            <a:prstGeom prst="ellipse">
              <a:avLst/>
            </a:prstGeom>
            <a:solidFill>
              <a:schemeClr val="accent1">
                <a:lumOff val="12058"/>
              </a:schemeClr>
            </a:solidFill>
            <a:ln w="12700" cap="flat">
              <a:solidFill>
                <a:schemeClr val="accent1">
                  <a:satOff val="-3547"/>
                  <a:lumOff val="-10352"/>
                </a:scheme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 b="1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4" name="≈ 80%"/>
            <p:cNvSpPr txBox="1"/>
            <p:nvPr/>
          </p:nvSpPr>
          <p:spPr>
            <a:xfrm>
              <a:off x="205007" y="345195"/>
              <a:ext cx="1087555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600" b="1">
                  <a:solidFill>
                    <a:srgbClr val="202124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rPr sz="2800" dirty="0"/>
                <a:t>80%</a:t>
              </a:r>
            </a:p>
          </p:txBody>
        </p:sp>
      </p:grpSp>
      <p:sp>
        <p:nvSpPr>
          <p:cNvPr id="236" name="TextBox 50"/>
          <p:cNvSpPr txBox="1"/>
          <p:nvPr/>
        </p:nvSpPr>
        <p:spPr>
          <a:xfrm>
            <a:off x="9320486" y="2544921"/>
            <a:ext cx="131468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n-US" dirty="0"/>
              <a:t>Accuracy</a:t>
            </a:r>
            <a:endParaRPr dirty="0"/>
          </a:p>
        </p:txBody>
      </p:sp>
      <p:sp>
        <p:nvSpPr>
          <p:cNvPr id="237" name="Right Brace 51"/>
          <p:cNvSpPr/>
          <p:nvPr/>
        </p:nvSpPr>
        <p:spPr>
          <a:xfrm>
            <a:off x="8843881" y="3138297"/>
            <a:ext cx="122997" cy="14041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965" y="0"/>
                  <a:pt x="10800" y="71"/>
                  <a:pt x="10800" y="158"/>
                </a:cubicBezTo>
                <a:lnTo>
                  <a:pt x="10800" y="10642"/>
                </a:lnTo>
                <a:cubicBezTo>
                  <a:pt x="10800" y="10729"/>
                  <a:pt x="15635" y="10800"/>
                  <a:pt x="21600" y="10800"/>
                </a:cubicBezTo>
                <a:cubicBezTo>
                  <a:pt x="15635" y="10800"/>
                  <a:pt x="10800" y="10871"/>
                  <a:pt x="10800" y="10958"/>
                </a:cubicBezTo>
                <a:lnTo>
                  <a:pt x="10800" y="21442"/>
                </a:lnTo>
                <a:cubicBezTo>
                  <a:pt x="10800" y="21529"/>
                  <a:pt x="5965" y="21600"/>
                  <a:pt x="0" y="21600"/>
                </a:cubicBezTo>
              </a:path>
            </a:pathLst>
          </a:custGeom>
          <a:ln w="63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38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239" name="Graphic 20" descr="Graphic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Footer Placeholder 5"/>
          <p:cNvSpPr txBox="1"/>
          <p:nvPr/>
        </p:nvSpPr>
        <p:spPr>
          <a:xfrm>
            <a:off x="9499928" y="6489437"/>
            <a:ext cx="314894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animBg="1" advAuto="0"/>
      <p:bldP spid="221" grpId="0" animBg="1" advAuto="0"/>
      <p:bldP spid="222" grpId="0" animBg="1" advAuto="0"/>
      <p:bldP spid="223" grpId="0" animBg="1" advAuto="0"/>
      <p:bldP spid="224" grpId="0" animBg="1" advAuto="0"/>
      <p:bldP spid="225" grpId="0" animBg="1" advAuto="0"/>
      <p:bldP spid="226" grpId="0" animBg="1" advAuto="0"/>
      <p:bldP spid="227" grpId="0" animBg="1" advAuto="0"/>
      <p:bldP spid="228" grpId="0" animBg="1" advAuto="0"/>
      <p:bldP spid="229" grpId="0" animBg="1" advAuto="0"/>
      <p:bldP spid="230" grpId="0" animBg="1" advAuto="0"/>
      <p:bldP spid="231" grpId="0" animBg="1" advAuto="0"/>
      <p:bldP spid="232" grpId="0" animBg="1" advAuto="0"/>
      <p:bldP spid="235" grpId="0" animBg="1" advAuto="0"/>
      <p:bldP spid="236" grpId="0" animBg="1" advAuto="0"/>
      <p:bldP spid="237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n-GB" dirty="0"/>
              <a:t>OUR SOLUTION</a:t>
            </a:r>
            <a:endParaRPr dirty="0"/>
          </a:p>
        </p:txBody>
      </p:sp>
      <p:graphicFrame>
        <p:nvGraphicFramePr>
          <p:cNvPr id="243" name="Chart 56"/>
          <p:cNvGraphicFramePr/>
          <p:nvPr/>
        </p:nvGraphicFramePr>
        <p:xfrm>
          <a:off x="1639992" y="2861368"/>
          <a:ext cx="4099638" cy="299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4" name="TextBox 4"/>
          <p:cNvSpPr txBox="1"/>
          <p:nvPr/>
        </p:nvSpPr>
        <p:spPr>
          <a:xfrm>
            <a:off x="2321309" y="2622408"/>
            <a:ext cx="120689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Total Cost</a:t>
            </a:r>
          </a:p>
        </p:txBody>
      </p:sp>
      <p:sp>
        <p:nvSpPr>
          <p:cNvPr id="245" name="TextBox 21"/>
          <p:cNvSpPr txBox="1"/>
          <p:nvPr/>
        </p:nvSpPr>
        <p:spPr>
          <a:xfrm>
            <a:off x="3049465" y="3518360"/>
            <a:ext cx="67935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rPr dirty="0"/>
              <a:t>100 C</a:t>
            </a:r>
          </a:p>
        </p:txBody>
      </p:sp>
      <p:sp>
        <p:nvSpPr>
          <p:cNvPr id="246" name="TextBox 23"/>
          <p:cNvSpPr txBox="1"/>
          <p:nvPr/>
        </p:nvSpPr>
        <p:spPr>
          <a:xfrm>
            <a:off x="2215384" y="4867794"/>
            <a:ext cx="679354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34 C</a:t>
            </a:r>
          </a:p>
        </p:txBody>
      </p:sp>
      <p:sp>
        <p:nvSpPr>
          <p:cNvPr id="247" name="Straight Arrow Connector 6"/>
          <p:cNvSpPr/>
          <p:nvPr/>
        </p:nvSpPr>
        <p:spPr>
          <a:xfrm>
            <a:off x="2894739" y="5098584"/>
            <a:ext cx="1849278" cy="0"/>
          </a:xfrm>
          <a:prstGeom prst="line">
            <a:avLst/>
          </a:prstGeom>
          <a:ln w="38100">
            <a:solidFill>
              <a:schemeClr val="accent1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8" name="TextBox 26"/>
          <p:cNvSpPr txBox="1"/>
          <p:nvPr/>
        </p:nvSpPr>
        <p:spPr>
          <a:xfrm>
            <a:off x="3080156" y="4510167"/>
            <a:ext cx="226210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66% Cost Reduction</a:t>
            </a:r>
          </a:p>
        </p:txBody>
      </p:sp>
      <p:sp>
        <p:nvSpPr>
          <p:cNvPr id="249" name="Rectangle 7"/>
          <p:cNvSpPr/>
          <p:nvPr/>
        </p:nvSpPr>
        <p:spPr>
          <a:xfrm>
            <a:off x="838200" y="3051251"/>
            <a:ext cx="4422531" cy="298656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50" name="TextBox 10"/>
          <p:cNvSpPr txBox="1"/>
          <p:nvPr/>
        </p:nvSpPr>
        <p:spPr>
          <a:xfrm>
            <a:off x="1047883" y="4714742"/>
            <a:ext cx="735038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With </a:t>
            </a:r>
          </a:p>
          <a:p>
            <a:pPr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Model</a:t>
            </a:r>
          </a:p>
        </p:txBody>
      </p:sp>
      <p:sp>
        <p:nvSpPr>
          <p:cNvPr id="251" name="TextBox 32"/>
          <p:cNvSpPr txBox="1"/>
          <p:nvPr/>
        </p:nvSpPr>
        <p:spPr>
          <a:xfrm>
            <a:off x="1009992" y="3367999"/>
            <a:ext cx="91168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Without </a:t>
            </a:r>
          </a:p>
          <a:p>
            <a:pPr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Model</a:t>
            </a:r>
          </a:p>
        </p:txBody>
      </p:sp>
      <p:sp>
        <p:nvSpPr>
          <p:cNvPr id="252" name="Straight Arrow Connector 12"/>
          <p:cNvSpPr/>
          <p:nvPr/>
        </p:nvSpPr>
        <p:spPr>
          <a:xfrm>
            <a:off x="5247175" y="3702854"/>
            <a:ext cx="976219" cy="0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3" name="Rectangle 36"/>
          <p:cNvSpPr/>
          <p:nvPr/>
        </p:nvSpPr>
        <p:spPr>
          <a:xfrm>
            <a:off x="5590738" y="3051251"/>
            <a:ext cx="3323101" cy="298656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54" name="Straight Arrow Connector 37"/>
          <p:cNvSpPr/>
          <p:nvPr/>
        </p:nvSpPr>
        <p:spPr>
          <a:xfrm flipV="1">
            <a:off x="5247176" y="5115208"/>
            <a:ext cx="972556" cy="9830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5" name="TextBox 38"/>
          <p:cNvSpPr txBox="1"/>
          <p:nvPr/>
        </p:nvSpPr>
        <p:spPr>
          <a:xfrm>
            <a:off x="5416406" y="2609827"/>
            <a:ext cx="3671767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n-US" dirty="0"/>
              <a:t>Profit Requirement (Target)</a:t>
            </a:r>
            <a:endParaRPr dirty="0"/>
          </a:p>
        </p:txBody>
      </p:sp>
      <p:sp>
        <p:nvSpPr>
          <p:cNvPr id="256" name="Rectangle 39"/>
          <p:cNvSpPr/>
          <p:nvPr/>
        </p:nvSpPr>
        <p:spPr>
          <a:xfrm>
            <a:off x="6263213" y="3444426"/>
            <a:ext cx="1378517" cy="48095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57" name="Rectangle 40"/>
          <p:cNvSpPr/>
          <p:nvPr/>
        </p:nvSpPr>
        <p:spPr>
          <a:xfrm>
            <a:off x="6263213" y="4859930"/>
            <a:ext cx="1378517" cy="48095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58" name="TextBox 41"/>
          <p:cNvSpPr txBox="1"/>
          <p:nvPr/>
        </p:nvSpPr>
        <p:spPr>
          <a:xfrm>
            <a:off x="6541430" y="3474205"/>
            <a:ext cx="9116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R &gt; 10C</a:t>
            </a:r>
          </a:p>
        </p:txBody>
      </p:sp>
      <p:sp>
        <p:nvSpPr>
          <p:cNvPr id="259" name="TextBox 43"/>
          <p:cNvSpPr txBox="1"/>
          <p:nvPr/>
        </p:nvSpPr>
        <p:spPr>
          <a:xfrm>
            <a:off x="6476051" y="4934039"/>
            <a:ext cx="97621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R &gt; 5C</a:t>
            </a:r>
          </a:p>
        </p:txBody>
      </p:sp>
      <p:cxnSp>
        <p:nvCxnSpPr>
          <p:cNvPr id="260" name="Straight Arrow Connector 44"/>
          <p:cNvCxnSpPr>
            <a:cxnSpLocks/>
            <a:stCxn id="256" idx="2"/>
            <a:endCxn id="257" idx="0"/>
          </p:cNvCxnSpPr>
          <p:nvPr/>
        </p:nvCxnSpPr>
        <p:spPr>
          <a:xfrm>
            <a:off x="6952472" y="3925385"/>
            <a:ext cx="0" cy="934545"/>
          </a:xfrm>
          <a:prstGeom prst="straightConnector1">
            <a:avLst/>
          </a:prstGeom>
          <a:ln w="38100">
            <a:solidFill>
              <a:schemeClr val="accent1"/>
            </a:solidFill>
            <a:miter/>
            <a:headEnd type="triangle"/>
            <a:tailEnd type="triangle"/>
          </a:ln>
        </p:spPr>
      </p:cxnSp>
      <p:sp>
        <p:nvSpPr>
          <p:cNvPr id="261" name="TextBox 48"/>
          <p:cNvSpPr txBox="1"/>
          <p:nvPr/>
        </p:nvSpPr>
        <p:spPr>
          <a:xfrm>
            <a:off x="7369347" y="3955164"/>
            <a:ext cx="154557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Target Reduced </a:t>
            </a:r>
          </a:p>
          <a:p>
            <a:pPr algn="ctr"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by 50%</a:t>
            </a:r>
          </a:p>
        </p:txBody>
      </p:sp>
      <p:sp>
        <p:nvSpPr>
          <p:cNvPr id="262" name="Rectangle 52"/>
          <p:cNvSpPr/>
          <p:nvPr/>
        </p:nvSpPr>
        <p:spPr>
          <a:xfrm>
            <a:off x="882162" y="1617098"/>
            <a:ext cx="3562023" cy="56451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63" name="TextBox 53"/>
          <p:cNvSpPr txBox="1"/>
          <p:nvPr/>
        </p:nvSpPr>
        <p:spPr>
          <a:xfrm>
            <a:off x="1048043" y="1592509"/>
            <a:ext cx="333262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Avg. Cost per </a:t>
            </a:r>
            <a:r>
              <a:rPr dirty="0" err="1"/>
              <a:t>cust</a:t>
            </a:r>
            <a:r>
              <a:rPr dirty="0"/>
              <a:t>.           = ‘C’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Avg. Revenue per </a:t>
            </a:r>
            <a:r>
              <a:rPr dirty="0" err="1"/>
              <a:t>cust</a:t>
            </a:r>
            <a:r>
              <a:rPr dirty="0"/>
              <a:t>.    = ‘R’</a:t>
            </a:r>
          </a:p>
        </p:txBody>
      </p:sp>
      <p:grpSp>
        <p:nvGrpSpPr>
          <p:cNvPr id="266" name="Flowchart: Connector 54"/>
          <p:cNvGrpSpPr/>
          <p:nvPr/>
        </p:nvGrpSpPr>
        <p:grpSpPr>
          <a:xfrm>
            <a:off x="9692253" y="3762234"/>
            <a:ext cx="1406131" cy="1336350"/>
            <a:chOff x="-1" y="0"/>
            <a:chExt cx="1406130" cy="1336348"/>
          </a:xfrm>
        </p:grpSpPr>
        <p:sp>
          <p:nvSpPr>
            <p:cNvPr id="264" name="Oval"/>
            <p:cNvSpPr/>
            <p:nvPr/>
          </p:nvSpPr>
          <p:spPr>
            <a:xfrm>
              <a:off x="-1" y="0"/>
              <a:ext cx="1406130" cy="1336348"/>
            </a:xfrm>
            <a:prstGeom prst="ellipse">
              <a:avLst/>
            </a:prstGeom>
            <a:solidFill>
              <a:schemeClr val="accent1">
                <a:satOff val="-3547"/>
                <a:lumOff val="-10352"/>
              </a:schemeClr>
            </a:solidFill>
            <a:ln w="12700" cap="flat">
              <a:solidFill>
                <a:schemeClr val="accent1">
                  <a:satOff val="-3547"/>
                  <a:lumOff val="-10352"/>
                </a:schemeClr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 b="1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65" name="≈ 80%"/>
            <p:cNvSpPr txBox="1"/>
            <p:nvPr/>
          </p:nvSpPr>
          <p:spPr>
            <a:xfrm>
              <a:off x="341329" y="366589"/>
              <a:ext cx="890142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600" b="1">
                  <a:solidFill>
                    <a:srgbClr val="202124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rPr sz="2800" dirty="0"/>
                <a:t>80%</a:t>
              </a:r>
            </a:p>
          </p:txBody>
        </p:sp>
      </p:grpSp>
      <p:sp>
        <p:nvSpPr>
          <p:cNvPr id="267" name="TextBox 55"/>
          <p:cNvSpPr txBox="1"/>
          <p:nvPr/>
        </p:nvSpPr>
        <p:spPr>
          <a:xfrm>
            <a:off x="9745111" y="2623219"/>
            <a:ext cx="131468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ACCURACY</a:t>
            </a:r>
          </a:p>
        </p:txBody>
      </p:sp>
      <p:sp>
        <p:nvSpPr>
          <p:cNvPr id="268" name="Rectangle 25"/>
          <p:cNvSpPr/>
          <p:nvPr/>
        </p:nvSpPr>
        <p:spPr>
          <a:xfrm>
            <a:off x="3058942" y="4498461"/>
            <a:ext cx="2013439" cy="369333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6"/>
                </a:solidFill>
              </a:defRPr>
            </a:pPr>
            <a:endParaRPr/>
          </a:p>
        </p:txBody>
      </p:sp>
      <p:sp>
        <p:nvSpPr>
          <p:cNvPr id="269" name="Rectangle 57"/>
          <p:cNvSpPr/>
          <p:nvPr/>
        </p:nvSpPr>
        <p:spPr>
          <a:xfrm>
            <a:off x="7389198" y="3986294"/>
            <a:ext cx="1474550" cy="827435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6"/>
                </a:solidFill>
              </a:defRPr>
            </a:pPr>
            <a:endParaRPr/>
          </a:p>
        </p:txBody>
      </p:sp>
      <p:sp>
        <p:nvSpPr>
          <p:cNvPr id="270" name="Footer Placeholder 5"/>
          <p:cNvSpPr txBox="1"/>
          <p:nvPr/>
        </p:nvSpPr>
        <p:spPr>
          <a:xfrm>
            <a:off x="9499928" y="6489437"/>
            <a:ext cx="314894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  <p:sp>
        <p:nvSpPr>
          <p:cNvPr id="271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272" name="Graphic 20" descr="Graphic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FAFE88B-5DFF-45FB-8211-04E1A722E083}"/>
              </a:ext>
            </a:extLst>
          </p:cNvPr>
          <p:cNvSpPr/>
          <p:nvPr/>
        </p:nvSpPr>
        <p:spPr>
          <a:xfrm>
            <a:off x="9585041" y="3684904"/>
            <a:ext cx="1620554" cy="1508447"/>
          </a:xfrm>
          <a:prstGeom prst="ellipse">
            <a:avLst/>
          </a:prstGeom>
          <a:noFill/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3" grpId="0">
        <p:bldAsOne/>
      </p:bldGraphic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1" grpId="0" animBg="1"/>
      <p:bldP spid="262" grpId="0" animBg="1"/>
      <p:bldP spid="263" grpId="0" animBg="1"/>
      <p:bldP spid="267" grpId="0" animBg="1"/>
      <p:bldP spid="268" grpId="0" animBg="1"/>
      <p:bldP spid="269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OUR TEAM</a:t>
            </a:r>
          </a:p>
        </p:txBody>
      </p:sp>
      <p:sp>
        <p:nvSpPr>
          <p:cNvPr id="275" name="Content Placeholder 2"/>
          <p:cNvSpPr txBox="1"/>
          <p:nvPr/>
        </p:nvSpPr>
        <p:spPr>
          <a:xfrm>
            <a:off x="1557178" y="3192403"/>
            <a:ext cx="1684447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342900">
              <a:spcBef>
                <a:spcPts val="400"/>
              </a:spcBef>
              <a:defRPr sz="2000" b="1">
                <a:solidFill>
                  <a:srgbClr val="44546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Rohan Kunte</a:t>
            </a:r>
          </a:p>
        </p:txBody>
      </p:sp>
      <p:sp>
        <p:nvSpPr>
          <p:cNvPr id="276" name="Content Placeholder 2"/>
          <p:cNvSpPr txBox="1"/>
          <p:nvPr/>
        </p:nvSpPr>
        <p:spPr>
          <a:xfrm>
            <a:off x="1745452" y="5488499"/>
            <a:ext cx="1162929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342900">
              <a:spcBef>
                <a:spcPts val="400"/>
              </a:spcBef>
              <a:defRPr sz="2000" b="1">
                <a:solidFill>
                  <a:srgbClr val="44546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Qixin Jia</a:t>
            </a:r>
          </a:p>
        </p:txBody>
      </p:sp>
      <p:sp>
        <p:nvSpPr>
          <p:cNvPr id="277" name="Content Placeholder 2"/>
          <p:cNvSpPr txBox="1"/>
          <p:nvPr/>
        </p:nvSpPr>
        <p:spPr>
          <a:xfrm>
            <a:off x="5197575" y="3147966"/>
            <a:ext cx="186800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342900">
              <a:spcBef>
                <a:spcPts val="400"/>
              </a:spcBef>
              <a:defRPr sz="2000" b="1">
                <a:solidFill>
                  <a:srgbClr val="44546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Dushant Gohri</a:t>
            </a:r>
          </a:p>
        </p:txBody>
      </p:sp>
      <p:sp>
        <p:nvSpPr>
          <p:cNvPr id="278" name="Content Placeholder 2"/>
          <p:cNvSpPr txBox="1"/>
          <p:nvPr/>
        </p:nvSpPr>
        <p:spPr>
          <a:xfrm>
            <a:off x="5303892" y="5489795"/>
            <a:ext cx="155757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342900">
              <a:spcBef>
                <a:spcPts val="400"/>
              </a:spcBef>
              <a:defRPr sz="2000" b="1">
                <a:solidFill>
                  <a:srgbClr val="44546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Mingjian Ma</a:t>
            </a:r>
          </a:p>
        </p:txBody>
      </p:sp>
      <p:sp>
        <p:nvSpPr>
          <p:cNvPr id="279" name="Content Placeholder 2"/>
          <p:cNvSpPr txBox="1"/>
          <p:nvPr/>
        </p:nvSpPr>
        <p:spPr>
          <a:xfrm>
            <a:off x="8724410" y="3045498"/>
            <a:ext cx="2052177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342900">
              <a:spcBef>
                <a:spcPts val="400"/>
              </a:spcBef>
              <a:defRPr sz="2000" b="1">
                <a:solidFill>
                  <a:srgbClr val="44546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Stylianos  Killas</a:t>
            </a:r>
          </a:p>
        </p:txBody>
      </p:sp>
      <p:pic>
        <p:nvPicPr>
          <p:cNvPr id="280" name="图片 19" descr="图片 19"/>
          <p:cNvPicPr>
            <a:picLocks noChangeAspect="1"/>
          </p:cNvPicPr>
          <p:nvPr/>
        </p:nvPicPr>
        <p:blipFill>
          <a:blip r:embed="rId2"/>
          <a:srcRect t="14286" r="6" b="14290"/>
          <a:stretch>
            <a:fillRect/>
          </a:stretch>
        </p:blipFill>
        <p:spPr>
          <a:xfrm>
            <a:off x="1659454" y="4084158"/>
            <a:ext cx="1328739" cy="1328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81" name="Picture 2" descr="Picture 2"/>
          <p:cNvPicPr>
            <a:picLocks noChangeAspect="1"/>
          </p:cNvPicPr>
          <p:nvPr/>
        </p:nvPicPr>
        <p:blipFill>
          <a:blip r:embed="rId3"/>
          <a:srcRect l="1928" r="1922"/>
          <a:stretch>
            <a:fillRect/>
          </a:stretch>
        </p:blipFill>
        <p:spPr>
          <a:xfrm>
            <a:off x="5380263" y="4125750"/>
            <a:ext cx="1306910" cy="1306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7" y="0"/>
                </a:moveTo>
                <a:cubicBezTo>
                  <a:pt x="4832" y="0"/>
                  <a:pt x="0" y="4832"/>
                  <a:pt x="0" y="10797"/>
                </a:cubicBezTo>
                <a:cubicBezTo>
                  <a:pt x="0" y="16761"/>
                  <a:pt x="4832" y="21600"/>
                  <a:pt x="10797" y="21600"/>
                </a:cubicBezTo>
                <a:cubicBezTo>
                  <a:pt x="16761" y="21600"/>
                  <a:pt x="21600" y="16761"/>
                  <a:pt x="21600" y="10797"/>
                </a:cubicBezTo>
                <a:cubicBezTo>
                  <a:pt x="21600" y="4832"/>
                  <a:pt x="16761" y="0"/>
                  <a:pt x="10797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82" name="图片 5" descr="图片 5"/>
          <p:cNvPicPr>
            <a:picLocks noChangeAspect="1"/>
          </p:cNvPicPr>
          <p:nvPr/>
        </p:nvPicPr>
        <p:blipFill>
          <a:blip r:embed="rId4"/>
          <a:srcRect t="12500" r="4" b="12503"/>
          <a:stretch>
            <a:fillRect/>
          </a:stretch>
        </p:blipFill>
        <p:spPr>
          <a:xfrm>
            <a:off x="8952810" y="4125750"/>
            <a:ext cx="1398985" cy="1398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3" y="0"/>
                </a:moveTo>
                <a:cubicBezTo>
                  <a:pt x="4838" y="0"/>
                  <a:pt x="0" y="4838"/>
                  <a:pt x="0" y="10803"/>
                </a:cubicBezTo>
                <a:cubicBezTo>
                  <a:pt x="0" y="16768"/>
                  <a:pt x="4838" y="21600"/>
                  <a:pt x="10803" y="21600"/>
                </a:cubicBezTo>
                <a:cubicBezTo>
                  <a:pt x="16768" y="21600"/>
                  <a:pt x="21600" y="16768"/>
                  <a:pt x="21600" y="10803"/>
                </a:cubicBezTo>
                <a:cubicBezTo>
                  <a:pt x="21600" y="4838"/>
                  <a:pt x="16768" y="0"/>
                  <a:pt x="10803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83" name="Picture 4" descr="Picture 4"/>
          <p:cNvPicPr>
            <a:picLocks noChangeAspect="1"/>
          </p:cNvPicPr>
          <p:nvPr/>
        </p:nvPicPr>
        <p:blipFill>
          <a:blip r:embed="rId5"/>
          <a:srcRect t="11563" r="5" b="11567"/>
          <a:stretch>
            <a:fillRect/>
          </a:stretch>
        </p:blipFill>
        <p:spPr>
          <a:xfrm>
            <a:off x="9136870" y="1690688"/>
            <a:ext cx="1339454" cy="1339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3" y="0"/>
                </a:moveTo>
                <a:cubicBezTo>
                  <a:pt x="4838" y="0"/>
                  <a:pt x="0" y="4838"/>
                  <a:pt x="0" y="10803"/>
                </a:cubicBezTo>
                <a:cubicBezTo>
                  <a:pt x="0" y="16768"/>
                  <a:pt x="4838" y="21600"/>
                  <a:pt x="10803" y="21600"/>
                </a:cubicBezTo>
                <a:cubicBezTo>
                  <a:pt x="16768" y="21600"/>
                  <a:pt x="21600" y="16768"/>
                  <a:pt x="21600" y="10803"/>
                </a:cubicBezTo>
                <a:cubicBezTo>
                  <a:pt x="21600" y="4838"/>
                  <a:pt x="16768" y="0"/>
                  <a:pt x="10803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84" name="图片 28" descr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0263" y="1683939"/>
            <a:ext cx="1417601" cy="1417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85" name="Content Placeholder 2"/>
          <p:cNvSpPr txBox="1"/>
          <p:nvPr/>
        </p:nvSpPr>
        <p:spPr>
          <a:xfrm>
            <a:off x="8772895" y="5566245"/>
            <a:ext cx="1755017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342900">
              <a:spcBef>
                <a:spcPts val="400"/>
              </a:spcBef>
              <a:defRPr sz="2000" b="1">
                <a:solidFill>
                  <a:srgbClr val="44546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Cheng Cheng</a:t>
            </a:r>
          </a:p>
        </p:txBody>
      </p:sp>
      <p:pic>
        <p:nvPicPr>
          <p:cNvPr id="286" name="Picture 69" descr="Picture 6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2759" y="1762915"/>
            <a:ext cx="1429491" cy="1429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4"/>
                  <a:pt x="4836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87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288" name="Graphic 20" descr="Graphic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Footer Placeholder 5"/>
          <p:cNvSpPr txBox="1"/>
          <p:nvPr/>
        </p:nvSpPr>
        <p:spPr>
          <a:xfrm>
            <a:off x="9499928" y="6489437"/>
            <a:ext cx="314894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Designed for UNIVERSAL PLUS Bank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Footer Placeholder 3"/>
          <p:cNvSpPr txBox="1"/>
          <p:nvPr/>
        </p:nvSpPr>
        <p:spPr>
          <a:xfrm>
            <a:off x="851380" y="6223701"/>
            <a:ext cx="6493311" cy="314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defTabSz="914400">
              <a:spcBef>
                <a:spcPts val="600"/>
              </a:spcBef>
              <a:defRPr sz="1100">
                <a:solidFill>
                  <a:srgbClr val="898989"/>
                </a:solidFill>
              </a:defRPr>
            </a:lvl1pPr>
          </a:lstStyle>
          <a:p>
            <a:r>
              <a:t>Designed for UNIVERSAL PLUS Bank</a:t>
            </a:r>
          </a:p>
        </p:txBody>
      </p:sp>
      <p:pic>
        <p:nvPicPr>
          <p:cNvPr id="292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1487389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Title 1"/>
          <p:cNvSpPr txBox="1">
            <a:spLocks noGrp="1"/>
          </p:cNvSpPr>
          <p:nvPr>
            <p:ph type="title"/>
          </p:nvPr>
        </p:nvSpPr>
        <p:spPr>
          <a:xfrm>
            <a:off x="804483" y="4267832"/>
            <a:ext cx="4805998" cy="1297116"/>
          </a:xfrm>
          <a:prstGeom prst="rect">
            <a:avLst/>
          </a:prstGeom>
        </p:spPr>
        <p:txBody>
          <a:bodyPr anchor="t"/>
          <a:lstStyle>
            <a:lvl1pPr>
              <a:defRPr sz="3500">
                <a:solidFill>
                  <a:schemeClr val="accent1">
                    <a:satOff val="-3547"/>
                    <a:lumOff val="-1035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THANK YOU</a:t>
            </a:r>
          </a:p>
        </p:txBody>
      </p:sp>
      <p:sp>
        <p:nvSpPr>
          <p:cNvPr id="294" name="TextBox 19"/>
          <p:cNvSpPr txBox="1"/>
          <p:nvPr/>
        </p:nvSpPr>
        <p:spPr>
          <a:xfrm>
            <a:off x="10553858" y="103325"/>
            <a:ext cx="17545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WBS Consultancy</a:t>
            </a:r>
          </a:p>
        </p:txBody>
      </p:sp>
      <p:pic>
        <p:nvPicPr>
          <p:cNvPr id="295" name="Graphic 20" descr="Graphic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3704" y="51759"/>
            <a:ext cx="423174" cy="4231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340</Words>
  <Application>Microsoft Office PowerPoint</Application>
  <PresentationFormat>Widescreen</PresentationFormat>
  <Paragraphs>122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Helvetica</vt:lpstr>
      <vt:lpstr>Helvetica Light</vt:lpstr>
      <vt:lpstr>Helvetica Neue</vt:lpstr>
      <vt:lpstr>Office Theme</vt:lpstr>
      <vt:lpstr>Customer Transaction Prediction</vt:lpstr>
      <vt:lpstr>INDEX</vt:lpstr>
      <vt:lpstr>METHODOLOGY</vt:lpstr>
      <vt:lpstr>PROJECT UNDERSTANDING</vt:lpstr>
      <vt:lpstr>DATA INSIGHTS</vt:lpstr>
      <vt:lpstr>LET’S TALK BUSINESS</vt:lpstr>
      <vt:lpstr>LET’S TALK BUSINESS</vt:lpstr>
      <vt:lpstr>PROBLEM SOLUTION</vt:lpstr>
      <vt:lpstr>OUR SOLUTION</vt:lpstr>
      <vt:lpstr>OUR TEAM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Transaction Prediction</dc:title>
  <dc:creator>Stylianos</dc:creator>
  <cp:lastModifiedBy>KUNTE, ROHAN (PGT)</cp:lastModifiedBy>
  <cp:revision>10</cp:revision>
  <dcterms:modified xsi:type="dcterms:W3CDTF">2020-12-09T14:22:08Z</dcterms:modified>
</cp:coreProperties>
</file>